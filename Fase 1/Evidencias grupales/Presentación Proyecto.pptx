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6" r:id="rId13"/>
    <p:sldId id="27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g03FdnuB41DbtTSW+TquzYnAH5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≈20 seg. Portada — nombre del proyecto y los 3 perfiles que lo componen.</a:t>
            </a: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" name="Google Shape;3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≈30 seg. Dos caras del mismo problema: quien contrata y quien quiere postular, sin canal común.</a:t>
            </a:r>
            <a:endParaRPr/>
          </a:p>
        </p:txBody>
      </p:sp>
      <p:sp>
        <p:nvSpPr>
          <p:cNvPr id="32" name="Google Shape;3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≈30 seg. LicitaWatch como plataforma privada y autosostenible, sin depender de portales externos.</a:t>
            </a:r>
            <a:endParaRPr/>
          </a:p>
        </p:txBody>
      </p:sp>
      <p:sp>
        <p:nvSpPr>
          <p:cNvPr id="53" name="Google Shape;5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≈25 seg. Leer el objetivo general una sola vez, sin detenerse en cada cláusula.</a:t>
            </a:r>
            <a:endParaRPr/>
          </a:p>
        </p:txBody>
      </p:sp>
      <p:sp>
        <p:nvSpPr>
          <p:cNvPr id="77" name="Google Shape;7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≈35 seg. Recorrer la grilla rápido, agrupando de a dos: identidad y publicación; búsqueda y ventas; pagos y administración.</a:t>
            </a:r>
            <a:endParaRPr/>
          </a:p>
        </p:txBody>
      </p:sp>
      <p:sp>
        <p:nvSpPr>
          <p:cNvPr id="89" name="Google Shape;8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≈35 seg. Los 3 perfiles se autentican vía JWT y RBAC; cada uno ve solo lo habilitado para su rol.</a:t>
            </a:r>
            <a:endParaRPr/>
          </a:p>
        </p:txBody>
      </p:sp>
      <p:sp>
        <p:nvSpPr>
          <p:cNvPr id="137" name="Google Shape;13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≈25 seg. Los planes limitan volumen y soporte, no las funciones esenciales: registro, búsqueda y postulación básica siempre están disponibles.</a:t>
            </a:r>
            <a:endParaRPr/>
          </a:p>
        </p:txBody>
      </p:sp>
      <p:sp>
        <p:nvSpPr>
          <p:cNvPr id="182" name="Google Shape;18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≈30 seg. El Administrador supervisa ambos flujos — licitaciones y ventas/pagos — desde el panel de administración.</a:t>
            </a:r>
            <a:endParaRPr/>
          </a:p>
        </p:txBody>
      </p:sp>
      <p:sp>
        <p:nvSpPr>
          <p:cNvPr id="227" name="Google Shape;22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≈35 seg. LicitAsist usa el Free Tier de Groq: sujeto a límites de uso, no es un servicio gratuito ilimitado.</a:t>
            </a:r>
            <a:endParaRPr/>
          </a:p>
        </p:txBody>
      </p:sp>
      <p:sp>
        <p:nvSpPr>
          <p:cNvPr id="256" name="Google Shape;25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h5cc5bd351a91ecd1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h5cc5bd351a91ecd1_1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h5cc5bd351a91ecd1_1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h5cc5bd351a91ecd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h5cc5bd351a91ecd1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0" name="Google Shape;290;h5cc5bd351a91ecd1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≈30 seg. usuario es la tabla central; licitador/pyme/administrador son extensiones 1:1 según el rol.</a:t>
            </a:r>
            <a:endParaRPr/>
          </a:p>
        </p:txBody>
      </p:sp>
      <p:sp>
        <p:nvSpPr>
          <p:cNvPr id="302" name="Google Shape;30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≈30 seg. Este es el corazón del ciclo de licitación: publicar (licitacion) y postular (postulacion).</a:t>
            </a:r>
            <a:endParaRPr/>
          </a:p>
        </p:txBody>
      </p:sp>
      <p:sp>
        <p:nvSpPr>
          <p:cNvPr id="312" name="Google Shape;312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1" name="Google Shape;32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≈25 seg. Cadena lineal: plan → suscripción → venta → pago, cada tabla referenciando a la anterior.</a:t>
            </a:r>
            <a:endParaRPr/>
          </a:p>
        </p:txBody>
      </p:sp>
      <p:sp>
        <p:nvSpPr>
          <p:cNvPr id="322" name="Google Shape;322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≈20 seg. API Asistente no tiene diapositiva propia de modelo de datos: no guarda información, solo orquesta a las otras cuatro APIs.</a:t>
            </a:r>
            <a:endParaRPr/>
          </a:p>
        </p:txBody>
      </p:sp>
      <p:sp>
        <p:nvSpPr>
          <p:cNvPr id="332" name="Google Shape;332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h5cc5bd351a91ecd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2" name="Google Shape;342;h5cc5bd351a91ecd1_0_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3" name="Google Shape;343;h5cc5bd351a91ecd1_0_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1" name="Google Shape;35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≈30 seg. El MVP cubre el ciclo completo de licitación y venta; queda fuera todo lo que no es indispensable para demostrarlo.</a:t>
            </a:r>
            <a:endParaRPr/>
          </a:p>
        </p:txBody>
      </p:sp>
      <p:sp>
        <p:nvSpPr>
          <p:cNvPr id="352" name="Google Shape;352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0" name="Google Shape;38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≈40 seg. Recorrer la línea de sprints señalando solo el hito clave (S7: integración de pagos) sin leer los ocho nombres en detalle.</a:t>
            </a:r>
            <a:endParaRPr/>
          </a:p>
        </p:txBody>
      </p:sp>
      <p:sp>
        <p:nvSpPr>
          <p:cNvPr id="381" name="Google Shape;381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5" name="Google Shape;41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≈20 seg. Cierre y espacio para preguntas.</a:t>
            </a:r>
            <a:endParaRPr/>
          </a:p>
        </p:txBody>
      </p:sp>
      <p:sp>
        <p:nvSpPr>
          <p:cNvPr id="416" name="Google Shape;416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509760" y="-1645920"/>
            <a:ext cx="4754880" cy="4754880"/>
          </a:xfrm>
          <a:prstGeom prst="ellipse">
            <a:avLst/>
          </a:prstGeom>
          <a:solidFill>
            <a:srgbClr val="0B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-1463040" y="5120640"/>
            <a:ext cx="3474720" cy="3474720"/>
          </a:xfrm>
          <a:prstGeom prst="ellipse">
            <a:avLst/>
          </a:prstGeom>
          <a:solidFill>
            <a:srgbClr val="0B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22960" y="1417320"/>
            <a:ext cx="868680" cy="86868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" name="Google Shape;19;p1" descr="/home/claude/licitawatch-deck/icons/briefcase_gol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0130" y="163449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 txBox="1"/>
          <p:nvPr/>
        </p:nvSpPr>
        <p:spPr>
          <a:xfrm>
            <a:off x="822960" y="24688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PROYECTO DE TÍTULO · INGENIERÍA · 2026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777240" y="2788920"/>
            <a:ext cx="9601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mbria"/>
              <a:buNone/>
            </a:pPr>
            <a:r>
              <a:rPr lang="en-US" sz="5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LicitaWatch</a:t>
            </a:r>
            <a:endParaRPr sz="5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822960" y="379476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Plataforma privada de gestión de licitaciones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822960" y="4572000"/>
            <a:ext cx="1764792" cy="457200"/>
          </a:xfrm>
          <a:prstGeom prst="roundRect">
            <a:avLst>
              <a:gd name="adj" fmla="val 50000"/>
            </a:avLst>
          </a:prstGeom>
          <a:solidFill>
            <a:srgbClr val="1B2E52"/>
          </a:solidFill>
          <a:ln w="12700" cap="flat" cmpd="sng">
            <a:solidFill>
              <a:srgbClr val="D4A2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822960" y="4572000"/>
            <a:ext cx="17647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Licitadores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2788920" y="457200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1B2E52"/>
          </a:solidFill>
          <a:ln w="12700" cap="flat" cmpd="sng">
            <a:solidFill>
              <a:srgbClr val="D4A2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2788920" y="45720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Pymes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041648" y="4572000"/>
            <a:ext cx="2121408" cy="457200"/>
          </a:xfrm>
          <a:prstGeom prst="roundRect">
            <a:avLst>
              <a:gd name="adj" fmla="val 50000"/>
            </a:avLst>
          </a:prstGeom>
          <a:solidFill>
            <a:srgbClr val="1B2E52"/>
          </a:solidFill>
          <a:ln w="12700" cap="flat" cmpd="sng">
            <a:solidFill>
              <a:srgbClr val="D4A2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4041648" y="4572000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Administración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CLIENTE Y PROBLEMA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Un mercado privado, sin canal propio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48640" y="1600200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" name="Google Shape;37;p2" descr="/home/claude/licitawatch-deck/icons/alert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17373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 txBox="1"/>
          <p:nvPr/>
        </p:nvSpPr>
        <p:spPr>
          <a:xfrm>
            <a:off x="1280160" y="1600200"/>
            <a:ext cx="98755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Las licitaciones privadas se gestionan hoy con planillas, correos y contactos — sin una plataforma propia que las centralice.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48640" y="2514600"/>
            <a:ext cx="53492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68680" y="2834640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" name="Google Shape;41;p2" descr="/home/claude/licitawatch-deck/icons/briefcase_gol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0354" y="29663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 txBox="1"/>
          <p:nvPr/>
        </p:nvSpPr>
        <p:spPr>
          <a:xfrm>
            <a:off x="1554480" y="288036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Licitadores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868680" y="3566160"/>
            <a:ext cx="470916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Empresas que necesitan contratar obras, servicios o insumos no tienen un canal controlado para publicar sus procesos ni recibir postulantes calificados.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172200" y="2514600"/>
            <a:ext cx="53492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492240" y="2834640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" name="Google Shape;46;p2" descr="/home/claude/licitawatch-deck/icons/users_gol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23914" y="29663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 txBox="1"/>
          <p:nvPr/>
        </p:nvSpPr>
        <p:spPr>
          <a:xfrm>
            <a:off x="7178040" y="288036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Pymes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6492240" y="3566160"/>
            <a:ext cx="470916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Pymes que ofrecen esos servicios no tienen un lugar centralizado donde buscar, comparar y postular — pierden oportunidades por falta de visibilidad.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LA SOLUCIÓN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LicitaWatch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 txBox="1"/>
          <p:nvPr/>
        </p:nvSpPr>
        <p:spPr>
          <a:xfrm>
            <a:off x="548640" y="137160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50"/>
              <a:buFont typeface="Calibri"/>
              <a:buNone/>
            </a:pPr>
            <a:r>
              <a:rPr lang="en-US" sz="1450" b="0" i="1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Una plataforma privada donde nuestra empresa controla la tecnología y el negocio.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548640" y="2148840"/>
            <a:ext cx="3584448" cy="3291840"/>
          </a:xfrm>
          <a:prstGeom prst="roundRect">
            <a:avLst>
              <a:gd name="adj" fmla="val 2778"/>
            </a:avLst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1975104" y="2514600"/>
            <a:ext cx="731520" cy="73152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3" descr="/home/claude/licitawatch-deck/icons/briefcase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57984" y="26974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"/>
          <p:cNvSpPr txBox="1"/>
          <p:nvPr/>
        </p:nvSpPr>
        <p:spPr>
          <a:xfrm>
            <a:off x="777240" y="3474720"/>
            <a:ext cx="31272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lang="en-US" sz="15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Licitadores publican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 txBox="1"/>
          <p:nvPr/>
        </p:nvSpPr>
        <p:spPr>
          <a:xfrm>
            <a:off x="822960" y="3977640"/>
            <a:ext cx="3035808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Publican y administran sus licitaciones de principio a fin.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334256" y="2148840"/>
            <a:ext cx="3584448" cy="3291840"/>
          </a:xfrm>
          <a:prstGeom prst="roundRect">
            <a:avLst>
              <a:gd name="adj" fmla="val 2778"/>
            </a:avLst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760720" y="2514600"/>
            <a:ext cx="731520" cy="73152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3" descr="/home/claude/licitawatch-deck/icons/search_whit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3600" y="26974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/>
          <p:cNvSpPr txBox="1"/>
          <p:nvPr/>
        </p:nvSpPr>
        <p:spPr>
          <a:xfrm>
            <a:off x="4562856" y="3474720"/>
            <a:ext cx="31272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lang="en-US" sz="15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Pymes postulan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 txBox="1"/>
          <p:nvPr/>
        </p:nvSpPr>
        <p:spPr>
          <a:xfrm>
            <a:off x="4608576" y="3977640"/>
            <a:ext cx="3035808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Buscan, filtran y postulan a las licitaciones abiertas.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8119872" y="2148840"/>
            <a:ext cx="3584448" cy="3291840"/>
          </a:xfrm>
          <a:prstGeom prst="roundRect">
            <a:avLst>
              <a:gd name="adj" fmla="val 2778"/>
            </a:avLst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9546336" y="2514600"/>
            <a:ext cx="731520" cy="73152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Google Shape;70;p3" descr="/home/claude/licitawatch-deck/icons/tag_whit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29216" y="26974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 txBox="1"/>
          <p:nvPr/>
        </p:nvSpPr>
        <p:spPr>
          <a:xfrm>
            <a:off x="8348472" y="3474720"/>
            <a:ext cx="31272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lang="en-US" sz="15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Planes propios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8394192" y="3977640"/>
            <a:ext cx="3035808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La operación se financia con suscripciones, no con terceros.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Qué buscamos lograr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777240" y="2148840"/>
            <a:ext cx="1463040" cy="14630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" name="Google Shape;82;p4" descr="/home/claude/licitawatch-deck/icons/target_gol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251460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4"/>
          <p:cNvSpPr/>
          <p:nvPr/>
        </p:nvSpPr>
        <p:spPr>
          <a:xfrm>
            <a:off x="2606040" y="2011680"/>
            <a:ext cx="9006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 txBox="1"/>
          <p:nvPr/>
        </p:nvSpPr>
        <p:spPr>
          <a:xfrm>
            <a:off x="2926080" y="2011680"/>
            <a:ext cx="841248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450"/>
              <a:buFont typeface="Calibri"/>
              <a:buNone/>
            </a:pPr>
            <a:r>
              <a:rPr lang="en-US" sz="14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Desarrollar una plataforma privada, basada en microservicios, que permita a los Licitadores publicar y administrar licitaciones sin costo, a las Pymes buscar y postular, y a ambas partes comunicarse mediante un chat privado — y operar el negocio con perfiles de usuario editables, suscripciones pagadas por las Pymes y una pasarela de pagos integrada, complementado con un asistente de inteligencia artificial que facilite la publicación y la postulación.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Ocho frentes de trabajo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548640" y="182880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5" descr="/home/claude/licitawatch-deck/icons/userplus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6112" y="2176272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"/>
          <p:cNvSpPr txBox="1"/>
          <p:nvPr/>
        </p:nvSpPr>
        <p:spPr>
          <a:xfrm>
            <a:off x="777240" y="2697480"/>
            <a:ext cx="224027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Autenticación y perfiles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777240" y="3108960"/>
            <a:ext cx="22402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JWT y control de acceso por rol (RBAC).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6217920" y="182880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6446520" y="2057400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5" descr="/home/claude/licitawatch-deck/icons/filetext_whit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65392" y="2176272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"/>
          <p:cNvSpPr txBox="1"/>
          <p:nvPr/>
        </p:nvSpPr>
        <p:spPr>
          <a:xfrm>
            <a:off x="6446520" y="2697480"/>
            <a:ext cx="224027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Publicación de licitaciones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6446520" y="3108960"/>
            <a:ext cx="22402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CRUD completo para los Licitadores.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9052560" y="182880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9281160" y="2057400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5" descr="/home/claude/licitawatch-deck/icons/search_whit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00032" y="2176272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5"/>
          <p:cNvSpPr txBox="1"/>
          <p:nvPr/>
        </p:nvSpPr>
        <p:spPr>
          <a:xfrm>
            <a:off x="9281160" y="2697480"/>
            <a:ext cx="224027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Búsqueda y postulación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 txBox="1"/>
          <p:nvPr/>
        </p:nvSpPr>
        <p:spPr>
          <a:xfrm>
            <a:off x="9281160" y="3108960"/>
            <a:ext cx="22402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Las Pymes filtran y postulan.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3383280" y="3858768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3611880" y="4087368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5" descr="/home/claude/licitawatch-deck/icons/tag_whit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730752" y="4206240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5"/>
          <p:cNvSpPr txBox="1"/>
          <p:nvPr/>
        </p:nvSpPr>
        <p:spPr>
          <a:xfrm>
            <a:off x="3611880" y="4727448"/>
            <a:ext cx="224027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Gestión de ventas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 txBox="1"/>
          <p:nvPr/>
        </p:nvSpPr>
        <p:spPr>
          <a:xfrm>
            <a:off x="3611880" y="5138927"/>
            <a:ext cx="22402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Planes de suscripción para las Pymes y sus transacciones.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6217920" y="3858768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6446520" y="4087368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5" descr="/home/claude/licitawatch-deck/icons/creditcard_whit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65392" y="4206240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 txBox="1"/>
          <p:nvPr/>
        </p:nvSpPr>
        <p:spPr>
          <a:xfrm>
            <a:off x="6446520" y="4727448"/>
            <a:ext cx="224027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Pasarela de pago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 txBox="1"/>
          <p:nvPr/>
        </p:nvSpPr>
        <p:spPr>
          <a:xfrm>
            <a:off x="6446520" y="5138927"/>
            <a:ext cx="22402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Cobro del plan Premium a las Pymes.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9052560" y="3858768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9281160" y="4087368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5" descr="/home/claude/licitawatch-deck/icons/settings_whit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00032" y="4206240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 txBox="1"/>
          <p:nvPr/>
        </p:nvSpPr>
        <p:spPr>
          <a:xfrm>
            <a:off x="9281160" y="4727448"/>
            <a:ext cx="224027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Panel de administración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9281160" y="5138927"/>
            <a:ext cx="22402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Usuarios, licitadores, pymes y licitaciones.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3383280" y="182880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3611880" y="2057400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3611880" y="2697480"/>
            <a:ext cx="224027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Edición de perfil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3611880" y="3108960"/>
            <a:ext cx="22402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Licitadores y Pymes actualizan sus datos.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5" descr="icon_pencil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730752" y="2176272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/>
          <p:nvPr/>
        </p:nvSpPr>
        <p:spPr>
          <a:xfrm>
            <a:off x="548640" y="3858768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777240" y="4087368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777240" y="4727448"/>
            <a:ext cx="224027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Chat entre las partes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777240" y="5138927"/>
            <a:ext cx="22402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Conversación privada Licitador–Pyme.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5" descr="icon_chat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96112" y="4206240"/>
            <a:ext cx="261518" cy="261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PERFILES DEL SISTEMA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Tres perfiles, un solo sistema de identidad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548640" y="1783080"/>
            <a:ext cx="3584448" cy="393192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804672" y="2057400"/>
            <a:ext cx="594360" cy="5943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6" descr="/home/claude/licitawatch-deck/icons/briefcase_gol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7318" y="220004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"/>
          <p:cNvSpPr txBox="1"/>
          <p:nvPr/>
        </p:nvSpPr>
        <p:spPr>
          <a:xfrm>
            <a:off x="804672" y="2788920"/>
            <a:ext cx="307238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650"/>
              <a:buFont typeface="Calibri"/>
              <a:buNone/>
            </a:pPr>
            <a:r>
              <a:rPr lang="en-US" sz="16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Licitador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 txBox="1"/>
          <p:nvPr/>
        </p:nvSpPr>
        <p:spPr>
          <a:xfrm>
            <a:off x="804672" y="3154680"/>
            <a:ext cx="3072384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Publica y administra licitaciones. Define condiciones y plazos, y revisa postulaciones.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6"/>
          <p:cNvCxnSpPr/>
          <p:nvPr/>
        </p:nvCxnSpPr>
        <p:spPr>
          <a:xfrm>
            <a:off x="804672" y="4206240"/>
            <a:ext cx="3072384" cy="0"/>
          </a:xfrm>
          <a:prstGeom prst="straightConnector1">
            <a:avLst/>
          </a:prstGeom>
          <a:noFill/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7" name="Google Shape;147;p6"/>
          <p:cNvSpPr/>
          <p:nvPr/>
        </p:nvSpPr>
        <p:spPr>
          <a:xfrm>
            <a:off x="804672" y="4407408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987552" y="4361688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Publicar licitación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804672" y="4791456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987552" y="4745736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Editar / cerrar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804672" y="5175504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987552" y="5129784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Ver postulantes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4334256" y="1783080"/>
            <a:ext cx="3584448" cy="393192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590288" y="2057400"/>
            <a:ext cx="594360" cy="5943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6" descr="/home/claude/licitawatch-deck/icons/users_gol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32934" y="220004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6"/>
          <p:cNvSpPr txBox="1"/>
          <p:nvPr/>
        </p:nvSpPr>
        <p:spPr>
          <a:xfrm>
            <a:off x="4590288" y="2788920"/>
            <a:ext cx="307238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650"/>
              <a:buFont typeface="Calibri"/>
              <a:buNone/>
            </a:pPr>
            <a:r>
              <a:rPr lang="en-US" sz="16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Pyme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4590288" y="3154680"/>
            <a:ext cx="3072384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Busca, revisa y postula a licitaciones publicadas. Administra su suscripción.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" name="Google Shape;158;p6"/>
          <p:cNvCxnSpPr/>
          <p:nvPr/>
        </p:nvCxnSpPr>
        <p:spPr>
          <a:xfrm>
            <a:off x="4590288" y="4206240"/>
            <a:ext cx="3072384" cy="0"/>
          </a:xfrm>
          <a:prstGeom prst="straightConnector1">
            <a:avLst/>
          </a:prstGeom>
          <a:noFill/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9" name="Google Shape;159;p6"/>
          <p:cNvSpPr/>
          <p:nvPr/>
        </p:nvSpPr>
        <p:spPr>
          <a:xfrm>
            <a:off x="4590288" y="4407408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 txBox="1"/>
          <p:nvPr/>
        </p:nvSpPr>
        <p:spPr>
          <a:xfrm>
            <a:off x="4773168" y="4361688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Buscar y filtrar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4590288" y="4791456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4773168" y="4745736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Postular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4590288" y="5175504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 txBox="1"/>
          <p:nvPr/>
        </p:nvSpPr>
        <p:spPr>
          <a:xfrm>
            <a:off x="4773168" y="5129784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Ver estado de postulación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8119872" y="1783080"/>
            <a:ext cx="3584448" cy="393192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8375904" y="2057400"/>
            <a:ext cx="594360" cy="5943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6" descr="/home/claude/licitawatch-deck/icons/shield_gol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18550" y="220004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 txBox="1"/>
          <p:nvPr/>
        </p:nvSpPr>
        <p:spPr>
          <a:xfrm>
            <a:off x="8375904" y="2788920"/>
            <a:ext cx="307238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650"/>
              <a:buFont typeface="Calibri"/>
              <a:buNone/>
            </a:pPr>
            <a:r>
              <a:rPr lang="en-US" sz="16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Administrador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 txBox="1"/>
          <p:nvPr/>
        </p:nvSpPr>
        <p:spPr>
          <a:xfrm>
            <a:off x="8375904" y="3154680"/>
            <a:ext cx="3072384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Pertenece a LicitaWatch. Administra usuarios, licitaciones y el funcionamiento general.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6"/>
          <p:cNvCxnSpPr/>
          <p:nvPr/>
        </p:nvCxnSpPr>
        <p:spPr>
          <a:xfrm>
            <a:off x="8375904" y="4206240"/>
            <a:ext cx="3072384" cy="0"/>
          </a:xfrm>
          <a:prstGeom prst="straightConnector1">
            <a:avLst/>
          </a:prstGeom>
          <a:noFill/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1" name="Google Shape;171;p6"/>
          <p:cNvSpPr/>
          <p:nvPr/>
        </p:nvSpPr>
        <p:spPr>
          <a:xfrm>
            <a:off x="8375904" y="4407408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8558784" y="4361688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Gestionar usuarios y roles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8375904" y="4791456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8558784" y="4745736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Moderar licitaciones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8375904" y="5175504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 txBox="1"/>
          <p:nvPr/>
        </p:nvSpPr>
        <p:spPr>
          <a:xfrm>
            <a:off x="8558784" y="5129784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Ver ventas y suscripciones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MODELO DE NEGOCIO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Ingresos por suscripción de las Pymes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Dos planes para las Pymes. El Licitador no paga: publica sus licitaciones sin costo.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48640" y="1965960"/>
            <a:ext cx="5349240" cy="4160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5225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"/>
          <p:cNvSpPr txBox="1"/>
          <p:nvPr/>
        </p:nvSpPr>
        <p:spPr>
          <a:xfrm>
            <a:off x="868680" y="2240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5A7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3A5A78"/>
                </a:solidFill>
                <a:latin typeface="Calibri"/>
                <a:ea typeface="Calibri"/>
                <a:cs typeface="Calibri"/>
                <a:sym typeface="Calibri"/>
              </a:rPr>
              <a:t>ESTÁNDAR  ·  GRATIS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 txBox="1"/>
          <p:nvPr/>
        </p:nvSpPr>
        <p:spPr>
          <a:xfrm>
            <a:off x="868680" y="2606040"/>
            <a:ext cx="47091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Acceso funcional para buscar y comenzar a postular.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868680" y="3337560"/>
            <a:ext cx="292608" cy="292608"/>
          </a:xfrm>
          <a:prstGeom prst="ellipse">
            <a:avLst/>
          </a:prstGeom>
          <a:solidFill>
            <a:srgbClr val="E1F2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7" descr="/home/claude/licitawatch-deck/icons/check_gree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544" y="339242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7"/>
          <p:cNvSpPr txBox="1"/>
          <p:nvPr/>
        </p:nvSpPr>
        <p:spPr>
          <a:xfrm>
            <a:off x="1280160" y="33375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Búsqueda y filtros de licitaciones sin límite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868680" y="3794760"/>
            <a:ext cx="292608" cy="292608"/>
          </a:xfrm>
          <a:prstGeom prst="ellipse">
            <a:avLst/>
          </a:prstGeom>
          <a:solidFill>
            <a:srgbClr val="E1F2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7" descr="/home/claude/licitawatch-deck/icons/check_gree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544" y="384962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7"/>
          <p:cNvSpPr txBox="1"/>
          <p:nvPr/>
        </p:nvSpPr>
        <p:spPr>
          <a:xfrm>
            <a:off x="1280160" y="37947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Hasta 3 postulaciones al mes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868680" y="4251960"/>
            <a:ext cx="292608" cy="292608"/>
          </a:xfrm>
          <a:prstGeom prst="ellipse">
            <a:avLst/>
          </a:prstGeom>
          <a:solidFill>
            <a:srgbClr val="E1F2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7" descr="/home/claude/licitawatch-deck/icons/check_gree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544" y="430682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 txBox="1"/>
          <p:nvPr/>
        </p:nvSpPr>
        <p:spPr>
          <a:xfrm>
            <a:off x="1280160" y="42519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Chat privado con el Licitador al adjudicar una licitación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6172200" y="1965960"/>
            <a:ext cx="5349240" cy="4160520"/>
          </a:xfrm>
          <a:prstGeom prst="roundRect">
            <a:avLst>
              <a:gd name="adj" fmla="val 2439"/>
            </a:avLst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6492240" y="2240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PREMIUM  ·  DE PAGO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 txBox="1"/>
          <p:nvPr/>
        </p:nvSpPr>
        <p:spPr>
          <a:xfrm>
            <a:off x="6492240" y="2606040"/>
            <a:ext cx="47091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Todo lo de Estándar, con mayor capacidad de postulación y beneficios exclusivos.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6492240" y="3337560"/>
            <a:ext cx="292608" cy="292608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7" descr="/home/claude/licitawatch-deck/icons/check_green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47104" y="339242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7"/>
          <p:cNvSpPr txBox="1"/>
          <p:nvPr/>
        </p:nvSpPr>
        <p:spPr>
          <a:xfrm>
            <a:off x="6903720" y="33375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Hasta 7 postulaciones al mes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6492240" y="3794760"/>
            <a:ext cx="292608" cy="292608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7" descr="/home/claude/licitawatch-deck/icons/check_green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47104" y="384962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7"/>
          <p:cNvSpPr txBox="1"/>
          <p:nvPr/>
        </p:nvSpPr>
        <p:spPr>
          <a:xfrm>
            <a:off x="6903720" y="37947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Acceso a LicitAsist, el asistente con IA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6492240" y="4251960"/>
            <a:ext cx="292608" cy="292608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7" descr="/home/claude/licitawatch-deck/icons/check_green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47104" y="430682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7"/>
          <p:cNvSpPr txBox="1"/>
          <p:nvPr/>
        </p:nvSpPr>
        <p:spPr>
          <a:xfrm>
            <a:off x="6903720" y="42519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Prioridad de visibilidad en resultados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868680" y="4709160"/>
            <a:ext cx="292608" cy="292608"/>
          </a:xfrm>
          <a:prstGeom prst="ellipse">
            <a:avLst/>
          </a:prstGeom>
          <a:solidFill>
            <a:srgbClr val="E1F2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7" descr="/home/claude/licitawatch-deck/icons/check_gree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544" y="476402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7"/>
          <p:cNvSpPr txBox="1"/>
          <p:nvPr/>
        </p:nvSpPr>
        <p:spPr>
          <a:xfrm>
            <a:off x="1280160" y="47091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Soporte estándar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6492240" y="4709160"/>
            <a:ext cx="292608" cy="292608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7" descr="/home/claude/licitawatch-deck/icons/check_green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47104" y="476402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7"/>
          <p:cNvSpPr txBox="1"/>
          <p:nvPr/>
        </p:nvSpPr>
        <p:spPr>
          <a:xfrm>
            <a:off x="6903720" y="47091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Alertas por correo de licitaciones de su rubro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6492240" y="5166360"/>
            <a:ext cx="292608" cy="292608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7" descr="/home/claude/licitawatch-deck/icons/check_green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47104" y="522122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7"/>
          <p:cNvSpPr txBox="1"/>
          <p:nvPr/>
        </p:nvSpPr>
        <p:spPr>
          <a:xfrm>
            <a:off x="6903720" y="51663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Insignia Premium visible en su perfil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6492240" y="5623560"/>
            <a:ext cx="292608" cy="292608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p7" descr="/home/claude/licitawatch-deck/icons/check_green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47104" y="567842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7"/>
          <p:cNvSpPr txBox="1"/>
          <p:nvPr/>
        </p:nvSpPr>
        <p:spPr>
          <a:xfrm>
            <a:off x="6903720" y="56235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Soporte prioritario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FLUJO PRINCIPAL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Del registro a la postulación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" name="Google Shape;231;p8"/>
          <p:cNvCxnSpPr/>
          <p:nvPr/>
        </p:nvCxnSpPr>
        <p:spPr>
          <a:xfrm>
            <a:off x="2000250" y="2743200"/>
            <a:ext cx="8161020" cy="0"/>
          </a:xfrm>
          <a:prstGeom prst="straightConnector1">
            <a:avLst/>
          </a:prstGeom>
          <a:noFill/>
          <a:ln w="381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2" name="Google Shape;232;p8"/>
          <p:cNvSpPr/>
          <p:nvPr/>
        </p:nvSpPr>
        <p:spPr>
          <a:xfrm>
            <a:off x="1634490" y="2377440"/>
            <a:ext cx="731520" cy="7315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p8" descr="/home/claude/licitawatch-deck/icons/briefcase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17370" y="2560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8"/>
          <p:cNvSpPr/>
          <p:nvPr/>
        </p:nvSpPr>
        <p:spPr>
          <a:xfrm>
            <a:off x="749808" y="3337560"/>
            <a:ext cx="250088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8"/>
          <p:cNvSpPr txBox="1"/>
          <p:nvPr/>
        </p:nvSpPr>
        <p:spPr>
          <a:xfrm>
            <a:off x="868680" y="3493008"/>
            <a:ext cx="22631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Licitador se registra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 txBox="1"/>
          <p:nvPr/>
        </p:nvSpPr>
        <p:spPr>
          <a:xfrm>
            <a:off x="868680" y="4023360"/>
            <a:ext cx="22631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Publica su licitación sin costo.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4354830" y="2377440"/>
            <a:ext cx="731520" cy="7315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8" descr="/home/claude/licitawatch-deck/icons/search_whit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37710" y="2560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8"/>
          <p:cNvSpPr/>
          <p:nvPr/>
        </p:nvSpPr>
        <p:spPr>
          <a:xfrm>
            <a:off x="3470148" y="3337560"/>
            <a:ext cx="250088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8"/>
          <p:cNvSpPr txBox="1"/>
          <p:nvPr/>
        </p:nvSpPr>
        <p:spPr>
          <a:xfrm>
            <a:off x="3589020" y="3493008"/>
            <a:ext cx="22631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Pyme busca y postula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 txBox="1"/>
          <p:nvPr/>
        </p:nvSpPr>
        <p:spPr>
          <a:xfrm>
            <a:off x="3589020" y="4023360"/>
            <a:ext cx="22631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Elige su plan(Opcional), filtra licitaciones y postula. Si el Licitador le adjudica la licitación, se abre un chat privado para resolver consultas.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7075170" y="2377440"/>
            <a:ext cx="731520" cy="7315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8" descr="/home/claude/licitawatch-deck/icons/check_green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58050" y="2560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8"/>
          <p:cNvSpPr/>
          <p:nvPr/>
        </p:nvSpPr>
        <p:spPr>
          <a:xfrm>
            <a:off x="6190488" y="3337560"/>
            <a:ext cx="250088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8"/>
          <p:cNvSpPr txBox="1"/>
          <p:nvPr/>
        </p:nvSpPr>
        <p:spPr>
          <a:xfrm>
            <a:off x="6309360" y="3493008"/>
            <a:ext cx="22631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Licitador decide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 txBox="1"/>
          <p:nvPr/>
        </p:nvSpPr>
        <p:spPr>
          <a:xfrm>
            <a:off x="6309360" y="4023360"/>
            <a:ext cx="22631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Revisa las postulaciones, las aprueba o rechaza y adjudica la licitación a una Pyme.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9795510" y="2377440"/>
            <a:ext cx="731520" cy="731520"/>
          </a:xfrm>
          <a:prstGeom prst="ellipse">
            <a:avLst/>
          </a:prstGeom>
          <a:solidFill>
            <a:srgbClr val="3A5A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" name="Google Shape;248;p8" descr="/home/claude/licitawatch-deck/icons/mail_whit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78390" y="2560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8"/>
          <p:cNvSpPr/>
          <p:nvPr/>
        </p:nvSpPr>
        <p:spPr>
          <a:xfrm>
            <a:off x="8910828" y="3337560"/>
            <a:ext cx="250088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8"/>
          <p:cNvSpPr txBox="1"/>
          <p:nvPr/>
        </p:nvSpPr>
        <p:spPr>
          <a:xfrm>
            <a:off x="9029700" y="3493008"/>
            <a:ext cx="22631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Notificación automática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 txBox="1"/>
          <p:nvPr/>
        </p:nvSpPr>
        <p:spPr>
          <a:xfrm>
            <a:off x="9029700" y="4023360"/>
            <a:ext cx="22631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Ambas partes reciben aviso por correo.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9"/>
          <p:cNvSpPr/>
          <p:nvPr/>
        </p:nvSpPr>
        <p:spPr>
          <a:xfrm>
            <a:off x="9875520" y="-1463040"/>
            <a:ext cx="4389120" cy="4389120"/>
          </a:xfrm>
          <a:prstGeom prst="ellipse">
            <a:avLst/>
          </a:prstGeom>
          <a:solidFill>
            <a:srgbClr val="0B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9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INNOVACIÓN DEL PROYECTO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 txBox="1"/>
          <p:nvPr/>
        </p:nvSpPr>
        <p:spPr>
          <a:xfrm>
            <a:off x="548640" y="676656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LicitAsist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 txBox="1"/>
          <p:nvPr/>
        </p:nvSpPr>
        <p:spPr>
          <a:xfrm>
            <a:off x="548640" y="135331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450"/>
              <a:buFont typeface="Calibri"/>
              <a:buNone/>
            </a:pPr>
            <a:r>
              <a:rPr lang="en-US" sz="1450" b="0" i="1" u="none" strike="noStrike" cap="non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Asistente conversacional con inteligencia artificial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548640" y="2011680"/>
            <a:ext cx="3584448" cy="2103120"/>
          </a:xfrm>
          <a:prstGeom prst="roundRect">
            <a:avLst>
              <a:gd name="adj" fmla="val 4348"/>
            </a:avLst>
          </a:prstGeom>
          <a:solidFill>
            <a:srgbClr val="1B2E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777240" y="2240280"/>
            <a:ext cx="502920" cy="50292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p9" descr="/home/claude/licitawatch-deck/icons/alert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7941" y="236098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9"/>
          <p:cNvSpPr txBox="1"/>
          <p:nvPr/>
        </p:nvSpPr>
        <p:spPr>
          <a:xfrm>
            <a:off x="1371600" y="2267712"/>
            <a:ext cx="257860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450"/>
              <a:buFont typeface="Calibri"/>
              <a:buNone/>
            </a:pPr>
            <a:r>
              <a:rPr lang="en-US" sz="14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 txBox="1"/>
          <p:nvPr/>
        </p:nvSpPr>
        <p:spPr>
          <a:xfrm>
            <a:off x="777240" y="2880360"/>
            <a:ext cx="312724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Las Pymes pierden tiempo revisando las Ofertas de licitaciones 1 por 1 manualmente.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4334256" y="2011680"/>
            <a:ext cx="3584448" cy="2103120"/>
          </a:xfrm>
          <a:prstGeom prst="roundRect">
            <a:avLst>
              <a:gd name="adj" fmla="val 4348"/>
            </a:avLst>
          </a:prstGeom>
          <a:solidFill>
            <a:srgbClr val="1B2E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4562856" y="2240280"/>
            <a:ext cx="502920" cy="50292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9" name="Google Shape;269;p9" descr="/home/claude/licitawatch-deck/icons/message_whit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83557" y="236098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9"/>
          <p:cNvSpPr txBox="1"/>
          <p:nvPr/>
        </p:nvSpPr>
        <p:spPr>
          <a:xfrm>
            <a:off x="5157216" y="2267712"/>
            <a:ext cx="257860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450"/>
              <a:buFont typeface="Calibri"/>
              <a:buNone/>
            </a:pPr>
            <a:r>
              <a:rPr lang="en-US" sz="14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 txBox="1"/>
          <p:nvPr/>
        </p:nvSpPr>
        <p:spPr>
          <a:xfrm>
            <a:off x="4562856" y="2880360"/>
            <a:ext cx="312724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Chatbot integrado que usa datos reales de la plataforma vía Groq API,para recomendar Licitaciones lo que aminoraria el tiempo de espera en encontrar alguna Licitación.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8119872" y="2011680"/>
            <a:ext cx="3584448" cy="2103120"/>
          </a:xfrm>
          <a:prstGeom prst="roundRect">
            <a:avLst>
              <a:gd name="adj" fmla="val 4348"/>
            </a:avLst>
          </a:prstGeom>
          <a:solidFill>
            <a:srgbClr val="1B2E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8348472" y="2240280"/>
            <a:ext cx="502920" cy="50292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4" name="Google Shape;274;p9" descr="/home/claude/licitawatch-deck/icons/zap_gol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69173" y="236098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9"/>
          <p:cNvSpPr txBox="1"/>
          <p:nvPr/>
        </p:nvSpPr>
        <p:spPr>
          <a:xfrm>
            <a:off x="8942832" y="2267712"/>
            <a:ext cx="257860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450"/>
              <a:buFont typeface="Calibri"/>
              <a:buNone/>
            </a:pPr>
            <a:r>
              <a:rPr lang="en-US" sz="14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Beneficio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 txBox="1"/>
          <p:nvPr/>
        </p:nvSpPr>
        <p:spPr>
          <a:xfrm>
            <a:off x="8348472" y="2880360"/>
            <a:ext cx="312724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Respuestas instantáneas, decisiones más rápidas y menor carga operativa.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548640" y="43434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B2E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9"/>
          <p:cNvSpPr txBox="1"/>
          <p:nvPr/>
        </p:nvSpPr>
        <p:spPr>
          <a:xfrm>
            <a:off x="868680" y="4526280"/>
            <a:ext cx="104241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250"/>
              <a:buFont typeface="Calibri"/>
              <a:buNone/>
            </a:pPr>
            <a:r>
              <a:rPr lang="en-US" sz="1250" b="0" i="1" u="none" strike="noStrike" cap="non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“¿Qué licitaciones de tecnología están abiertas y cierran esta semana?”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 txBox="1"/>
          <p:nvPr/>
        </p:nvSpPr>
        <p:spPr>
          <a:xfrm>
            <a:off x="868680" y="4937760"/>
            <a:ext cx="104241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Hay 3 abiertas que cierran esta semana: “Soporte técnico TI” (2 días), “Desarrollo de sitio web” (4 días) y “Auditoría de ciberseguridad” (5 días). ¿Te ayudo a postular a alguna?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8FA3BD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h5cc5bd351a91ecd1_1_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h5cc5bd351a91ecd1_1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3C27251-7012-1353-B7B3-8058B4F8B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70" y="264160"/>
            <a:ext cx="11900138" cy="6268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532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AB8B585-0224-4E87-0DC4-E2B3D24A0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21" y="100341"/>
            <a:ext cx="10960512" cy="612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389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"/>
          <p:cNvSpPr txBox="1"/>
          <p:nvPr/>
        </p:nvSpPr>
        <p:spPr>
          <a:xfrm>
            <a:off x="408940" y="-2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MODELO DE DATOS · API USUARIOS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 txBox="1"/>
          <p:nvPr/>
        </p:nvSpPr>
        <p:spPr>
          <a:xfrm>
            <a:off x="408940" y="184881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El </a:t>
            </a:r>
            <a:r>
              <a:rPr lang="en-US" sz="3200" b="1" i="0" u="none" strike="noStrike" cap="none" dirty="0" err="1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núcleo</a:t>
            </a: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 de </a:t>
            </a:r>
            <a:r>
              <a:rPr lang="en-US" sz="3200" b="1" i="0" u="none" strike="noStrike" cap="none" dirty="0" err="1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identidad</a:t>
            </a: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 BD USUARIOS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 txBox="1"/>
          <p:nvPr/>
        </p:nvSpPr>
        <p:spPr>
          <a:xfrm>
            <a:off x="408940" y="796475"/>
            <a:ext cx="10515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Un usuario base, especializado por rol — normalizado, sin duplicar datos.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34E7B27-32A7-124E-B274-5A51CC6F3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" y="1306786"/>
            <a:ext cx="7467600" cy="504084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3"/>
          <p:cNvSpPr txBox="1"/>
          <p:nvPr/>
        </p:nvSpPr>
        <p:spPr>
          <a:xfrm>
            <a:off x="293840" y="65573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MODELO DE DATOS · API LICITACIONES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 txBox="1"/>
          <p:nvPr/>
        </p:nvSpPr>
        <p:spPr>
          <a:xfrm>
            <a:off x="293840" y="390118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Una </a:t>
            </a:r>
            <a:r>
              <a:rPr lang="en-US" sz="3200" b="1" i="0" u="none" strike="noStrike" cap="none" dirty="0" err="1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licitación</a:t>
            </a: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en-US" sz="3200" b="1" i="0" u="none" strike="noStrike" cap="none" dirty="0" err="1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muchas</a:t>
            </a: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200" b="1" i="0" u="none" strike="noStrike" cap="none" dirty="0" err="1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postulaciones</a:t>
            </a:r>
            <a:b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BD LICITACIONES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 txBox="1"/>
          <p:nvPr/>
        </p:nvSpPr>
        <p:spPr>
          <a:xfrm>
            <a:off x="293840" y="1107963"/>
            <a:ext cx="10515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00"/>
              <a:buFont typeface="Calibri"/>
              <a:buNone/>
            </a:pPr>
            <a:r>
              <a:rPr lang="en-US" sz="1400" b="0" i="1" u="none" strike="noStrike" cap="none" dirty="0" err="1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Relación</a:t>
            </a:r>
            <a:r>
              <a:rPr lang="en-US" sz="1400" b="0" i="1" u="none" strike="noStrike" cap="none" dirty="0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 1 : N — </a:t>
            </a:r>
            <a:r>
              <a:rPr lang="en-US" sz="1400" b="0" i="1" u="none" strike="noStrike" cap="none" dirty="0" err="1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cada</a:t>
            </a:r>
            <a:r>
              <a:rPr lang="en-US" sz="1400" b="0" i="1" u="none" strike="noStrike" cap="none" dirty="0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1" u="none" strike="noStrike" cap="none" dirty="0" err="1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licitación</a:t>
            </a:r>
            <a:r>
              <a:rPr lang="en-US" sz="1400" b="0" i="1" u="none" strike="noStrike" cap="none" dirty="0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1" u="none" strike="noStrike" cap="none" dirty="0" err="1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puede</a:t>
            </a:r>
            <a:r>
              <a:rPr lang="en-US" sz="1400" b="0" i="1" u="none" strike="noStrike" cap="none" dirty="0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1" u="none" strike="noStrike" cap="none" dirty="0" err="1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recibir</a:t>
            </a:r>
            <a:r>
              <a:rPr lang="en-US" sz="1400" b="0" i="1" u="none" strike="noStrike" cap="none" dirty="0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1" u="none" strike="noStrike" cap="none" dirty="0" err="1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varias</a:t>
            </a:r>
            <a:r>
              <a:rPr lang="en-US" sz="1400" b="0" i="1" u="none" strike="noStrike" cap="none" dirty="0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1" u="none" strike="noStrike" cap="none" dirty="0" err="1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postulaciones</a:t>
            </a:r>
            <a:r>
              <a:rPr lang="en-US" sz="1400" b="0" i="1" u="none" strike="noStrike" cap="none" dirty="0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005D3E8-5814-BF9C-3975-AF0B38BFD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78" y="1664825"/>
            <a:ext cx="8640103" cy="41400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4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MODELO DE DATOS · API MS-VENTAS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De la </a:t>
            </a:r>
            <a:r>
              <a:rPr lang="en-US" sz="3200" b="1" i="0" u="none" strike="noStrike" cap="none" dirty="0" err="1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suscripción</a:t>
            </a: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 al </a:t>
            </a:r>
            <a:r>
              <a:rPr lang="en-US" sz="3200" b="1" i="0" u="none" strike="noStrike" cap="none" dirty="0" err="1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pago</a:t>
            </a:r>
            <a:b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BD VENTAS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 txBox="1"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El flujo va en cadena: un plan da origen a una suscripción, una venta y un pago.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64A097A-F1D4-1E82-4B9E-118C6962F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21" y="1958066"/>
            <a:ext cx="9482814" cy="434367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5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MODELO DE DATOS · API NOTIFICACIONES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5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Un </a:t>
            </a:r>
            <a:r>
              <a:rPr lang="en-US" sz="3200" b="1" i="0" u="none" strike="noStrike" cap="none" dirty="0" err="1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registro</a:t>
            </a: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200" b="1" i="0" u="none" strike="noStrike" cap="none" dirty="0" err="1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por</a:t>
            </a: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200" b="1" i="0" u="none" strike="noStrike" cap="none" dirty="0" err="1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cada</a:t>
            </a: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200" b="1" i="0" u="none" strike="noStrike" cap="none" dirty="0" err="1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evento</a:t>
            </a: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200" b="1" i="0" u="none" strike="noStrike" cap="none" dirty="0" err="1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importante</a:t>
            </a:r>
            <a:b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BD NOTIFICACIONES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 txBox="1"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El microservicio más simple: una sola tabla, sin relaciones propias.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2858C8E-2E6D-CCDF-3437-141285586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86" y="1737340"/>
            <a:ext cx="9037899" cy="27890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h5cc5bd351a91ecd1_0_45"/>
          <p:cNvSpPr txBox="1"/>
          <p:nvPr/>
        </p:nvSpPr>
        <p:spPr>
          <a:xfrm>
            <a:off x="548640" y="384048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MODELO DE DATOS · API CHAT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h5cc5bd351a91ecd1_0_45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h5cc5bd351a91ecd1_0_45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Comunicación entre licitadores y pymes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7AC73EF-AC4A-F110-5FF9-D8B52781E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083" y="1531530"/>
            <a:ext cx="6989859" cy="254517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6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ALCANCE DEL PROYECTO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6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Qué entra y qué no entra en el MVP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6"/>
          <p:cNvSpPr/>
          <p:nvPr/>
        </p:nvSpPr>
        <p:spPr>
          <a:xfrm>
            <a:off x="548640" y="1783080"/>
            <a:ext cx="5486400" cy="4343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225" cap="flat" cmpd="sng">
            <a:solidFill>
              <a:srgbClr val="1E7A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6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E1F2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8" name="Google Shape;358;p16" descr="/home/claude/licitawatch-deck/icons/check_gree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830" y="21602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6"/>
          <p:cNvSpPr txBox="1"/>
          <p:nvPr/>
        </p:nvSpPr>
        <p:spPr>
          <a:xfrm>
            <a:off x="1417320" y="205740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A3D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E7A3D"/>
                </a:solidFill>
                <a:latin typeface="Calibri"/>
                <a:ea typeface="Calibri"/>
                <a:cs typeface="Calibri"/>
                <a:sym typeface="Calibri"/>
              </a:rPr>
              <a:t>Dentro del alcance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6"/>
          <p:cNvSpPr txBox="1"/>
          <p:nvPr/>
        </p:nvSpPr>
        <p:spPr>
          <a:xfrm>
            <a:off x="868680" y="269748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Registro y autenticación (3 perfiles)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6"/>
          <p:cNvSpPr txBox="1"/>
          <p:nvPr/>
        </p:nvSpPr>
        <p:spPr>
          <a:xfrm>
            <a:off x="868680" y="342900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Publicación y administración de licitaciones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6"/>
          <p:cNvSpPr txBox="1"/>
          <p:nvPr/>
        </p:nvSpPr>
        <p:spPr>
          <a:xfrm>
            <a:off x="868680" y="379476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Búsqueda y postulación de Pymes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6"/>
          <p:cNvSpPr txBox="1"/>
          <p:nvPr/>
        </p:nvSpPr>
        <p:spPr>
          <a:xfrm>
            <a:off x="868680" y="452628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Planes para Pymes: Estándar (gratis) y Premium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6"/>
          <p:cNvSpPr txBox="1"/>
          <p:nvPr/>
        </p:nvSpPr>
        <p:spPr>
          <a:xfrm>
            <a:off x="868680" y="489204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Integración con pasarela de pago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6"/>
          <p:cNvSpPr txBox="1"/>
          <p:nvPr/>
        </p:nvSpPr>
        <p:spPr>
          <a:xfrm>
            <a:off x="868680" y="525780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Panel de administración general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6"/>
          <p:cNvSpPr txBox="1"/>
          <p:nvPr/>
        </p:nvSpPr>
        <p:spPr>
          <a:xfrm>
            <a:off x="868680" y="562356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LicitAsist: asistente con IA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6"/>
          <p:cNvSpPr/>
          <p:nvPr/>
        </p:nvSpPr>
        <p:spPr>
          <a:xfrm>
            <a:off x="6263640" y="1783080"/>
            <a:ext cx="5349240" cy="4343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225" cap="flat" cmpd="sng">
            <a:solidFill>
              <a:srgbClr val="A32D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6"/>
          <p:cNvSpPr/>
          <p:nvPr/>
        </p:nvSpPr>
        <p:spPr>
          <a:xfrm>
            <a:off x="6537960" y="2057400"/>
            <a:ext cx="457200" cy="457200"/>
          </a:xfrm>
          <a:prstGeom prst="ellipse">
            <a:avLst/>
          </a:prstGeom>
          <a:solidFill>
            <a:srgbClr val="FBE7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9" name="Google Shape;369;p16" descr="/home/claude/licitawatch-deck/icons/x_r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0830" y="21602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6"/>
          <p:cNvSpPr txBox="1"/>
          <p:nvPr/>
        </p:nvSpPr>
        <p:spPr>
          <a:xfrm>
            <a:off x="7132320" y="205740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2D2D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A32D2D"/>
                </a:solidFill>
                <a:latin typeface="Calibri"/>
                <a:ea typeface="Calibri"/>
                <a:cs typeface="Calibri"/>
                <a:sym typeface="Calibri"/>
              </a:rPr>
              <a:t>Fuera del alcance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6"/>
          <p:cNvSpPr txBox="1"/>
          <p:nvPr/>
        </p:nvSpPr>
        <p:spPr>
          <a:xfrm>
            <a:off x="6583680" y="2697480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Obtención automática de licitaciones públicas externas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6"/>
          <p:cNvSpPr txBox="1"/>
          <p:nvPr/>
        </p:nvSpPr>
        <p:spPr>
          <a:xfrm>
            <a:off x="6583680" y="3108960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Aplicación móvil nativa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6"/>
          <p:cNvSpPr txBox="1"/>
          <p:nvPr/>
        </p:nvSpPr>
        <p:spPr>
          <a:xfrm>
            <a:off x="6583680" y="3520440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Motor propio de recomendación con machine learning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6"/>
          <p:cNvSpPr txBox="1"/>
          <p:nvPr/>
        </p:nvSpPr>
        <p:spPr>
          <a:xfrm>
            <a:off x="6583680" y="3931920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Integración con ERP externos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6"/>
          <p:cNvSpPr txBox="1"/>
          <p:nvPr/>
        </p:nvSpPr>
        <p:spPr>
          <a:xfrm>
            <a:off x="868680" y="306324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Edición de datos del perfil (Licitador y Pyme)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6"/>
          <p:cNvSpPr txBox="1"/>
          <p:nvPr/>
        </p:nvSpPr>
        <p:spPr>
          <a:xfrm>
            <a:off x="868680" y="416052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Chat privado entre Licitador y Pyme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7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7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Scrum — 6 sprints de 2 semanas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7"/>
          <p:cNvSpPr txBox="1"/>
          <p:nvPr/>
        </p:nvSpPr>
        <p:spPr>
          <a:xfrm>
            <a:off x="699515" y="1362450"/>
            <a:ext cx="10515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350"/>
              <a:buFont typeface="Calibri"/>
              <a:buNone/>
            </a:pPr>
            <a:r>
              <a:rPr lang="en-US" sz="1350" b="0" i="1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12 semanas de desarrollo (01/09 – 20/11),con un entregable funcional al cierre de cada sprint.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7"/>
          <p:cNvSpPr/>
          <p:nvPr/>
        </p:nvSpPr>
        <p:spPr>
          <a:xfrm>
            <a:off x="548640" y="2103120"/>
            <a:ext cx="1691640" cy="173736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1156716" y="2286000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7"/>
          <p:cNvSpPr txBox="1"/>
          <p:nvPr/>
        </p:nvSpPr>
        <p:spPr>
          <a:xfrm>
            <a:off x="1156716" y="22860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7"/>
          <p:cNvSpPr txBox="1"/>
          <p:nvPr/>
        </p:nvSpPr>
        <p:spPr>
          <a:xfrm>
            <a:off x="658368" y="2880360"/>
            <a:ext cx="1472184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Usuarios y registro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7"/>
          <p:cNvSpPr/>
          <p:nvPr/>
        </p:nvSpPr>
        <p:spPr>
          <a:xfrm>
            <a:off x="2423160" y="2103120"/>
            <a:ext cx="1691640" cy="173736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7"/>
          <p:cNvSpPr/>
          <p:nvPr/>
        </p:nvSpPr>
        <p:spPr>
          <a:xfrm>
            <a:off x="3031236" y="2286000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7"/>
          <p:cNvSpPr txBox="1"/>
          <p:nvPr/>
        </p:nvSpPr>
        <p:spPr>
          <a:xfrm>
            <a:off x="3031236" y="22860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7"/>
          <p:cNvSpPr txBox="1"/>
          <p:nvPr/>
        </p:nvSpPr>
        <p:spPr>
          <a:xfrm>
            <a:off x="2532888" y="2880360"/>
            <a:ext cx="1472184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Licitaciones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7"/>
          <p:cNvSpPr/>
          <p:nvPr/>
        </p:nvSpPr>
        <p:spPr>
          <a:xfrm>
            <a:off x="4297680" y="2103120"/>
            <a:ext cx="1691640" cy="173736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7"/>
          <p:cNvSpPr/>
          <p:nvPr/>
        </p:nvSpPr>
        <p:spPr>
          <a:xfrm>
            <a:off x="4905756" y="2286000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7"/>
          <p:cNvSpPr txBox="1"/>
          <p:nvPr/>
        </p:nvSpPr>
        <p:spPr>
          <a:xfrm>
            <a:off x="4905756" y="22860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7"/>
          <p:cNvSpPr txBox="1"/>
          <p:nvPr/>
        </p:nvSpPr>
        <p:spPr>
          <a:xfrm>
            <a:off x="4407408" y="2948940"/>
            <a:ext cx="1472184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Postulaciones y selecciones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7"/>
          <p:cNvSpPr/>
          <p:nvPr/>
        </p:nvSpPr>
        <p:spPr>
          <a:xfrm>
            <a:off x="6172200" y="2103120"/>
            <a:ext cx="1691640" cy="173736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7"/>
          <p:cNvSpPr/>
          <p:nvPr/>
        </p:nvSpPr>
        <p:spPr>
          <a:xfrm>
            <a:off x="6780276" y="2286000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7"/>
          <p:cNvSpPr txBox="1"/>
          <p:nvPr/>
        </p:nvSpPr>
        <p:spPr>
          <a:xfrm>
            <a:off x="6780276" y="22860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7"/>
          <p:cNvSpPr txBox="1"/>
          <p:nvPr/>
        </p:nvSpPr>
        <p:spPr>
          <a:xfrm>
            <a:off x="6281928" y="2935224"/>
            <a:ext cx="1472184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Módulo Administrador y Estado de postulaciones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7"/>
          <p:cNvSpPr/>
          <p:nvPr/>
        </p:nvSpPr>
        <p:spPr>
          <a:xfrm>
            <a:off x="8046720" y="2103120"/>
            <a:ext cx="1691640" cy="173736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7"/>
          <p:cNvSpPr/>
          <p:nvPr/>
        </p:nvSpPr>
        <p:spPr>
          <a:xfrm>
            <a:off x="8654796" y="2286000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7"/>
          <p:cNvSpPr txBox="1"/>
          <p:nvPr/>
        </p:nvSpPr>
        <p:spPr>
          <a:xfrm>
            <a:off x="8654796" y="2286000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7"/>
          <p:cNvSpPr/>
          <p:nvPr/>
        </p:nvSpPr>
        <p:spPr>
          <a:xfrm>
            <a:off x="548640" y="416052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F2E3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7"/>
          <p:cNvSpPr txBox="1"/>
          <p:nvPr/>
        </p:nvSpPr>
        <p:spPr>
          <a:xfrm>
            <a:off x="822960" y="4315968"/>
            <a:ext cx="1060704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Facilitadores:  </a:t>
            </a: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stack tecnológico definido desde el inicio, 100% herramientas gratuitas para el desarrollo.</a:t>
            </a:r>
            <a:b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Obstaculizadores:  </a:t>
            </a: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Dependencia de servicios externos con nivel gratuito limitado (IA y pasarela de pago) y coordinación entre 6 APIs internas y 2 APIs externas.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7"/>
          <p:cNvSpPr/>
          <p:nvPr/>
        </p:nvSpPr>
        <p:spPr>
          <a:xfrm>
            <a:off x="9921240" y="2103120"/>
            <a:ext cx="1691640" cy="173736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7"/>
          <p:cNvSpPr/>
          <p:nvPr/>
        </p:nvSpPr>
        <p:spPr>
          <a:xfrm>
            <a:off x="10529316" y="2286000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7"/>
          <p:cNvSpPr txBox="1"/>
          <p:nvPr/>
        </p:nvSpPr>
        <p:spPr>
          <a:xfrm>
            <a:off x="10529316" y="2286000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7"/>
          <p:cNvSpPr txBox="1"/>
          <p:nvPr/>
        </p:nvSpPr>
        <p:spPr>
          <a:xfrm>
            <a:off x="8156448" y="2880312"/>
            <a:ext cx="1472184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Suscripción y pasarela de pago externa</a:t>
            </a:r>
            <a:endParaRPr sz="1050" b="1" i="0" u="none" strike="noStrike" cap="none">
              <a:solidFill>
                <a:srgbClr val="1A2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50"/>
              <a:buFont typeface="Calibri"/>
              <a:buNone/>
            </a:pPr>
            <a:endParaRPr sz="1050" b="1">
              <a:solidFill>
                <a:srgbClr val="1A2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7"/>
          <p:cNvSpPr txBox="1"/>
          <p:nvPr/>
        </p:nvSpPr>
        <p:spPr>
          <a:xfrm>
            <a:off x="10030968" y="2880299"/>
            <a:ext cx="1472184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LicitAsist (IA), notificaciones, chat y perfil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8"/>
          <p:cNvSpPr/>
          <p:nvPr/>
        </p:nvSpPr>
        <p:spPr>
          <a:xfrm>
            <a:off x="-1371600" y="-1463040"/>
            <a:ext cx="4206240" cy="4206240"/>
          </a:xfrm>
          <a:prstGeom prst="ellipse">
            <a:avLst/>
          </a:prstGeom>
          <a:solidFill>
            <a:srgbClr val="0B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8"/>
          <p:cNvSpPr/>
          <p:nvPr/>
        </p:nvSpPr>
        <p:spPr>
          <a:xfrm>
            <a:off x="10241280" y="3931920"/>
            <a:ext cx="3657600" cy="3657600"/>
          </a:xfrm>
          <a:prstGeom prst="ellipse">
            <a:avLst/>
          </a:prstGeom>
          <a:solidFill>
            <a:srgbClr val="0B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8"/>
          <p:cNvSpPr/>
          <p:nvPr/>
        </p:nvSpPr>
        <p:spPr>
          <a:xfrm>
            <a:off x="822960" y="1234440"/>
            <a:ext cx="777240" cy="77724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1" name="Google Shape;421;p18" descr="/home/claude/licitawatch-deck/icons/award_gol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7270" y="142875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18"/>
          <p:cNvSpPr txBox="1"/>
          <p:nvPr/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RESULTADO ESPERADO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8"/>
          <p:cNvSpPr txBox="1"/>
          <p:nvPr/>
        </p:nvSpPr>
        <p:spPr>
          <a:xfrm>
            <a:off x="822960" y="2542032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Un sistema privado, propio y sostenible.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8"/>
          <p:cNvSpPr txBox="1"/>
          <p:nvPr/>
        </p:nvSpPr>
        <p:spPr>
          <a:xfrm>
            <a:off x="822960" y="333756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LicitaWatch deja de depender de portales externos: los Licitadores publican, las Pymes postulan, y los planes de suscripción financian la operación.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8"/>
          <p:cNvSpPr/>
          <p:nvPr/>
        </p:nvSpPr>
        <p:spPr>
          <a:xfrm>
            <a:off x="822960" y="4160520"/>
            <a:ext cx="310896" cy="310896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6" name="Google Shape;426;p18" descr="/home/claude/licitawatch-deck/icons/check_green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5139" y="4222699"/>
            <a:ext cx="186538" cy="186538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18"/>
          <p:cNvSpPr txBox="1"/>
          <p:nvPr/>
        </p:nvSpPr>
        <p:spPr>
          <a:xfrm>
            <a:off x="1280160" y="4160520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Arquitectura de microservicios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8"/>
          <p:cNvSpPr/>
          <p:nvPr/>
        </p:nvSpPr>
        <p:spPr>
          <a:xfrm>
            <a:off x="822960" y="4663440"/>
            <a:ext cx="310896" cy="310896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9" name="Google Shape;429;p18" descr="/home/claude/licitawatch-deck/icons/check_green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5139" y="4725619"/>
            <a:ext cx="186538" cy="186538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8"/>
          <p:cNvSpPr txBox="1"/>
          <p:nvPr/>
        </p:nvSpPr>
        <p:spPr>
          <a:xfrm>
            <a:off x="1280160" y="4663440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 de negocio propio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8"/>
          <p:cNvSpPr/>
          <p:nvPr/>
        </p:nvSpPr>
        <p:spPr>
          <a:xfrm>
            <a:off x="822960" y="5166360"/>
            <a:ext cx="310896" cy="310896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2" name="Google Shape;432;p18" descr="/home/claude/licitawatch-deck/icons/check_green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5139" y="5228539"/>
            <a:ext cx="186538" cy="186538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18"/>
          <p:cNvSpPr txBox="1"/>
          <p:nvPr/>
        </p:nvSpPr>
        <p:spPr>
          <a:xfrm>
            <a:off x="1280160" y="5166360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LicitAsist · IA integrada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8"/>
          <p:cNvSpPr txBox="1"/>
          <p:nvPr/>
        </p:nvSpPr>
        <p:spPr>
          <a:xfrm>
            <a:off x="822960" y="59436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D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8FA3BD"/>
                </a:solidFill>
                <a:latin typeface="Calibri"/>
                <a:ea typeface="Calibri"/>
                <a:cs typeface="Calibri"/>
                <a:sym typeface="Calibri"/>
              </a:rPr>
              <a:t>Gracias — preguntas y comentarios son bienvenidos.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1591</Words>
  <Application>Microsoft Office PowerPoint</Application>
  <PresentationFormat>Panorámica</PresentationFormat>
  <Paragraphs>202</Paragraphs>
  <Slides>21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Francisca Araya Soto</cp:lastModifiedBy>
  <cp:revision>4</cp:revision>
  <dcterms:created xsi:type="dcterms:W3CDTF">2026-09-23T15:29:00Z</dcterms:created>
  <dcterms:modified xsi:type="dcterms:W3CDTF">2026-10-23T17:59:09Z</dcterms:modified>
</cp:coreProperties>
</file>