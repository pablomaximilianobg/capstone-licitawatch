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03FdnuB41DbtTSW+TquzYnAH5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Portada — nombre del proyecto y los 3 perfiles que lo componen.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Dos caras del mismo problema: quien contrata y quien quiere postular, sin canal común.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LicitaWatch como plataforma privada y autosostenible, sin depender de portales externos.</a:t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Leer el objetivo general una sola vez, sin detenerse en cada cláusula.</a:t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Recorrer la grilla rápido, agrupando de a dos: identidad y publicación; búsqueda y ventas; pagos y administración.</a:t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Los 3 perfiles se autentican vía JWT y RBAC; cada uno ve solo lo habilitado para su rol.</a:t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Los planes limitan volumen y soporte, no las funciones esenciales: registro, búsqueda y postulación básica siempre están disponibles.</a:t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Administrador supervisa ambos flujos — licitaciones y ventas/pagos — desde el panel de administración.</a:t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≈35 seg. LicitAsist usa el Free Tier de Groq: sujeto a límites de uso, no es un servicio gratuito ilimitado.</a:t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h5cc5bd351a91ecd1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h5cc5bd351a91ecd1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h5cc5bd351a91ecd1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5cc5bd351a91ecd1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h5cc5bd351a91ecd1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h5cc5bd351a91ecd1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h3be17654306d2f8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h3be17654306d2f8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h3be17654306d2f8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usuario es la tabla central; licitador/pyme/administrador son extensiones 1:1 según el rol.</a:t>
            </a:r>
            <a:endParaRPr/>
          </a:p>
        </p:txBody>
      </p:sp>
      <p:sp>
        <p:nvSpPr>
          <p:cNvPr id="302" name="Google Shape;3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Este es el corazón del ciclo de licitación: publicar (licitacion) y postular (postulacion).</a:t>
            </a:r>
            <a:endParaRPr/>
          </a:p>
        </p:txBody>
      </p:sp>
      <p:sp>
        <p:nvSpPr>
          <p:cNvPr id="312" name="Google Shape;3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≈25 seg. Cadena lineal: plan → suscripción → venta → pago, cada tabla referenciando a la anterior.</a:t>
            </a:r>
            <a:endParaRPr/>
          </a:p>
        </p:txBody>
      </p:sp>
      <p:sp>
        <p:nvSpPr>
          <p:cNvPr id="322" name="Google Shape;32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API Asistente no tiene diapositiva propia de modelo de datos: no guarda información, solo orquesta a las otras cuatro APIs.</a:t>
            </a:r>
            <a:endParaRPr/>
          </a:p>
        </p:txBody>
      </p:sp>
      <p:sp>
        <p:nvSpPr>
          <p:cNvPr id="332" name="Google Shape;3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h5cc5bd351a91ecd1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h5cc5bd351a91ecd1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h5cc5bd351a91ecd1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≈30 seg. El MVP cubre el ciclo completo de licitación y venta; queda fuera todo lo que no es indispensable para demostrarlo.</a:t>
            </a:r>
            <a:endParaRPr/>
          </a:p>
        </p:txBody>
      </p:sp>
      <p:sp>
        <p:nvSpPr>
          <p:cNvPr id="352" name="Google Shape;35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≈40 seg. Recorrer la línea de sprints señalando solo el hito clave (S7: integración de pagos) sin leer los ocho nombres en detalle.</a:t>
            </a:r>
            <a:endParaRPr/>
          </a:p>
        </p:txBody>
      </p:sp>
      <p:sp>
        <p:nvSpPr>
          <p:cNvPr id="381" name="Google Shape;38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≈20 seg. Cierre y espacio para preguntas.</a:t>
            </a:r>
            <a:endParaRPr/>
          </a:p>
        </p:txBody>
      </p:sp>
      <p:sp>
        <p:nvSpPr>
          <p:cNvPr id="416" name="Google Shape;41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509760" y="-1645920"/>
            <a:ext cx="4754880" cy="475488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-1463040" y="5120640"/>
            <a:ext cx="3474720" cy="34747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22960" y="1417320"/>
            <a:ext cx="868680" cy="86868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0130" y="163449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468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·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788920"/>
            <a:ext cx="9601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mbr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Plataforma privada de gestión de licitaciones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572000"/>
            <a:ext cx="1764792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822960" y="4572000"/>
            <a:ext cx="17647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2788920" y="4572000"/>
            <a:ext cx="1051560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788920" y="457200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041648" y="4572000"/>
            <a:ext cx="2121408" cy="457200"/>
          </a:xfrm>
          <a:prstGeom prst="roundRect">
            <a:avLst>
              <a:gd fmla="val 50000" name="adj"/>
            </a:avLst>
          </a:prstGeom>
          <a:solidFill>
            <a:srgbClr val="1B2E52"/>
          </a:solidFill>
          <a:ln cap="flat" cmpd="sng" w="12700">
            <a:solidFill>
              <a:srgbClr val="D4A2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4041648" y="4572000"/>
            <a:ext cx="21214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CLIENTE Y PROBLEMA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mercado privado, sin canal propio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373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 txBox="1"/>
          <p:nvPr/>
        </p:nvSpPr>
        <p:spPr>
          <a:xfrm>
            <a:off x="1280160" y="1600200"/>
            <a:ext cx="9875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licitaciones privadas se gestionan hoy con planillas, correos y contactos — sin una plataforma propia que las centralice.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35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 txBox="1"/>
          <p:nvPr/>
        </p:nvSpPr>
        <p:spPr>
          <a:xfrm>
            <a:off x="155448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86868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Empresas que necesitan contratar obras, servicios o insumos no tienen un canal controlado para publicar sus procesos ni recibir postulantes calificados.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2514600"/>
            <a:ext cx="5349240" cy="292608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492240" y="2834640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3914" y="296631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/>
        </p:nvSpPr>
        <p:spPr>
          <a:xfrm>
            <a:off x="7178040" y="2880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6492240" y="3566160"/>
            <a:ext cx="47091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Pymes que ofrecen esos servicios no tienen un lugar centralizado donde buscar, comparar y postular — pierden oportunidades por falta de visibilidad.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LA SOLUCIÓN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LicitaWatch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 txBox="1"/>
          <p:nvPr/>
        </p:nvSpPr>
        <p:spPr>
          <a:xfrm>
            <a:off x="548640" y="137160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Una plataforma privada donde nuestra empresa controla la tecnología y el negocio.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975104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60" name="Google Shape;6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7984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 txBox="1"/>
          <p:nvPr/>
        </p:nvSpPr>
        <p:spPr>
          <a:xfrm>
            <a:off x="777240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Licitadores publican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822960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Publican y administran sus licitaciones de principio a fin.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334256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760720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65" name="Google Shape;6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/>
        </p:nvSpPr>
        <p:spPr>
          <a:xfrm>
            <a:off x="4562856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Pymes postulan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4608576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Buscan, filtran y postulan a las licitaciones abiertas.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119872" y="2148840"/>
            <a:ext cx="3584448" cy="3291840"/>
          </a:xfrm>
          <a:prstGeom prst="roundRect">
            <a:avLst>
              <a:gd fmla="val 2778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9546336" y="2514600"/>
            <a:ext cx="731520" cy="7315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70" name="Google Shape;7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29216" y="2697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 txBox="1"/>
          <p:nvPr/>
        </p:nvSpPr>
        <p:spPr>
          <a:xfrm>
            <a:off x="8348472" y="3474720"/>
            <a:ext cx="31272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Planes propios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8394192" y="3977640"/>
            <a:ext cx="3035808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 operación se financia con suscripciones, no con terceros.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buscamos lograr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77240" y="2148840"/>
            <a:ext cx="1463040" cy="14630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rget_gol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51460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2606040" y="2011680"/>
            <a:ext cx="90068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 txBox="1"/>
          <p:nvPr/>
        </p:nvSpPr>
        <p:spPr>
          <a:xfrm>
            <a:off x="2926080" y="201168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privada, basada en microservicios, que permita a los Licitadores publicar y administrar licitaciones sin costo, a las Pymes buscar y postular, y a ambas partes comunicarse mediante un chat privado — y operar el negocio con perfiles de usuario editables, suscripciones pagadas por las Pymes y una pasarela de pagos integrada, complementado con un asistente de inteligencia artificial que facilite la publicación y la postulación.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Ocho frentes de trabajo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48640" y="18288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plus_white.png" id="95" name="Google Shape;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611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 txBox="1"/>
          <p:nvPr/>
        </p:nvSpPr>
        <p:spPr>
          <a:xfrm>
            <a:off x="77724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Autenticación y perfiles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 txBox="1"/>
          <p:nvPr/>
        </p:nvSpPr>
        <p:spPr>
          <a:xfrm>
            <a:off x="77724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JWT y control de acceso por rol (RBAC).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217920" y="18288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44652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filetext_white.png" id="100" name="Google Shape;10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539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5"/>
          <p:cNvSpPr txBox="1"/>
          <p:nvPr/>
        </p:nvSpPr>
        <p:spPr>
          <a:xfrm>
            <a:off x="644652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Publicación de licitaciones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44652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CRUD completo para los Licitadores.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9052560" y="18288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928116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105" name="Google Shape;10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0003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 txBox="1"/>
          <p:nvPr/>
        </p:nvSpPr>
        <p:spPr>
          <a:xfrm>
            <a:off x="928116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postulación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928116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Las Pymes filtran y postulan.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83280" y="3858768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61188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tag_white.png" id="110" name="Google Shape;11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3075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 txBox="1"/>
          <p:nvPr/>
        </p:nvSpPr>
        <p:spPr>
          <a:xfrm>
            <a:off x="361188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Gestión de ventas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61188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Planes de suscripción para las Pymes y sus transacciones.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217920" y="3858768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44652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reditcard_white.png" id="115" name="Google Shape;11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539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644652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Pasarela de pago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644652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Cobro del plan Premium a las Pymes.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052560" y="3858768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928116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ttings_white.png" id="120" name="Google Shape;12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0003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928116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Panel de administración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928116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Usuarios, licitadores, pymes y licitaciones.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83280" y="1828800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611880" y="2057400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611880" y="2697480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Edición de perfil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611880" y="3108960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Licitadores y Pymes actualizan sus datos.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pencil.png" id="128" name="Google Shape;12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30752" y="2176272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548640" y="3858768"/>
            <a:ext cx="2651760" cy="1828800"/>
          </a:xfrm>
          <a:prstGeom prst="roundRect">
            <a:avLst>
              <a:gd fmla="val 4500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77240" y="4087368"/>
            <a:ext cx="502920" cy="5029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777240" y="4727448"/>
            <a:ext cx="2240279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3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entre las partes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77240" y="5138927"/>
            <a:ext cx="224027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Conversación privada Licitador–Pyme.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_chat.png" id="133" name="Google Shape;133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112" y="4206240"/>
            <a:ext cx="261518" cy="2615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PERFILES DEL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Tres perfiles, un solo sistema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48640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04672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gold.png" id="143" name="Google Shape;1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318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6"/>
          <p:cNvSpPr txBox="1"/>
          <p:nvPr/>
        </p:nvSpPr>
        <p:spPr>
          <a:xfrm>
            <a:off x="804672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804672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y administra licitaciones. Define condiciones y plazos, y revisa postulaciones.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6"/>
          <p:cNvCxnSpPr/>
          <p:nvPr/>
        </p:nvCxnSpPr>
        <p:spPr>
          <a:xfrm>
            <a:off x="804672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6"/>
          <p:cNvSpPr/>
          <p:nvPr/>
        </p:nvSpPr>
        <p:spPr>
          <a:xfrm>
            <a:off x="804672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987552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Publicar licitación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804672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987552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Editar / cerrar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987552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postulantes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34256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590288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users_gold.png" id="155" name="Google Shape;15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934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 txBox="1"/>
          <p:nvPr/>
        </p:nvSpPr>
        <p:spPr>
          <a:xfrm>
            <a:off x="4590288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590288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Busca, revisa y postula a licitaciones publicadas. Administra su suscripción.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8" name="Google Shape;158;p6"/>
          <p:cNvCxnSpPr/>
          <p:nvPr/>
        </p:nvCxnSpPr>
        <p:spPr>
          <a:xfrm>
            <a:off x="4590288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6"/>
          <p:cNvSpPr/>
          <p:nvPr/>
        </p:nvSpPr>
        <p:spPr>
          <a:xfrm>
            <a:off x="4590288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4773168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Buscar y filtrar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590288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773168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90288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4773168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estado de postulación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119872" y="1783080"/>
            <a:ext cx="3584448" cy="3931920"/>
          </a:xfrm>
          <a:prstGeom prst="roundRect">
            <a:avLst>
              <a:gd fmla="val 255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375904" y="2057400"/>
            <a:ext cx="594360" cy="5943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hield_gold.png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8550" y="2200046"/>
            <a:ext cx="309067" cy="30906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8375904" y="2788920"/>
            <a:ext cx="30723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8375904" y="3154680"/>
            <a:ext cx="307238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Pertenece a LicitaWatch. Administra usuarios, licitaciones y el funcionamiento general.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" name="Google Shape;170;p6"/>
          <p:cNvCxnSpPr/>
          <p:nvPr/>
        </p:nvCxnSpPr>
        <p:spPr>
          <a:xfrm>
            <a:off x="8375904" y="4206240"/>
            <a:ext cx="3072384" cy="0"/>
          </a:xfrm>
          <a:prstGeom prst="straightConnector1">
            <a:avLst/>
          </a:prstGeom>
          <a:noFill/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6"/>
          <p:cNvSpPr/>
          <p:nvPr/>
        </p:nvSpPr>
        <p:spPr>
          <a:xfrm>
            <a:off x="8375904" y="4407408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8558784" y="4361688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Gestionar usuarios y roles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375904" y="4791456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8558784" y="4745736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Moderar licitaciones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8375904" y="5175504"/>
            <a:ext cx="82296" cy="82296"/>
          </a:xfrm>
          <a:prstGeom prst="ellipse">
            <a:avLst/>
          </a:prstGeom>
          <a:solidFill>
            <a:srgbClr val="D4A2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 txBox="1"/>
          <p:nvPr/>
        </p:nvSpPr>
        <p:spPr>
          <a:xfrm>
            <a:off x="8558784" y="5129784"/>
            <a:ext cx="28895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Ver ventas y suscripciones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 txBox="1"/>
          <p:nvPr/>
        </p:nvSpPr>
        <p:spPr>
          <a:xfrm>
            <a:off x="11430000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NEGOCIO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Ingresos por suscripción de las Pymes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Dos planes para las Pymes. El Licitador no paga: publica sus licitaciones sin costo.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48640" y="1965960"/>
            <a:ext cx="5349240" cy="4160520"/>
          </a:xfrm>
          <a:prstGeom prst="roundRect">
            <a:avLst>
              <a:gd fmla="val 2439" name="adj"/>
            </a:avLst>
          </a:prstGeom>
          <a:solidFill>
            <a:srgbClr val="FFFFFF"/>
          </a:solidFill>
          <a:ln cap="flat" cmpd="sng" w="15225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86868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5A7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A5A78"/>
                </a:solidFill>
                <a:latin typeface="Calibri"/>
                <a:ea typeface="Calibri"/>
                <a:cs typeface="Calibri"/>
                <a:sym typeface="Calibri"/>
              </a:rPr>
              <a:t>ESTÁNDAR  ·  GRATIS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86868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Acceso funcional para buscar y comenzar a postular.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68680" y="33375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128016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Búsqueda y filtros de licitaciones sin límite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68680" y="37947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4" name="Google Shape;1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 txBox="1"/>
          <p:nvPr/>
        </p:nvSpPr>
        <p:spPr>
          <a:xfrm>
            <a:off x="128016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Hasta 3 postulaciones al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68680" y="42519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128016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Chat privado con el Licitador al adjudicar una licitación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172200" y="1965960"/>
            <a:ext cx="5349240" cy="4160520"/>
          </a:xfrm>
          <a:prstGeom prst="roundRect">
            <a:avLst>
              <a:gd fmla="val 2439" name="adj"/>
            </a:avLst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6492240" y="2240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PREMIUM  ·  DE PAGO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 txBox="1"/>
          <p:nvPr/>
        </p:nvSpPr>
        <p:spPr>
          <a:xfrm>
            <a:off x="6492240" y="2606040"/>
            <a:ext cx="4709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Todo lo de Estándar, con mayor capacidad de postulación y beneficios exclusivos.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492240" y="3337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3" name="Google Shape;2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3392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6903720" y="3337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Hasta 7 postulaciones al 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492240" y="37947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6" name="Google Shape;2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38496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903720" y="37947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a LicitAsist, el asistente con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492240" y="42519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43068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 txBox="1"/>
          <p:nvPr/>
        </p:nvSpPr>
        <p:spPr>
          <a:xfrm>
            <a:off x="6903720" y="42519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 de visibilidad en resultados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" y="4709160"/>
            <a:ext cx="292608" cy="292608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13" name="Google Shape;21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7"/>
          <p:cNvSpPr txBox="1"/>
          <p:nvPr/>
        </p:nvSpPr>
        <p:spPr>
          <a:xfrm>
            <a:off x="128016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Soporte estándar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492240" y="47091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16" name="Google Shape;21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47640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 txBox="1"/>
          <p:nvPr/>
        </p:nvSpPr>
        <p:spPr>
          <a:xfrm>
            <a:off x="6903720" y="47091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Alertas por correo de licitaciones de su rubro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492240" y="51663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19" name="Google Shape;21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52212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7"/>
          <p:cNvSpPr txBox="1"/>
          <p:nvPr/>
        </p:nvSpPr>
        <p:spPr>
          <a:xfrm>
            <a:off x="6903720" y="51663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Insignia Premium visible en su perfil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492240" y="5623560"/>
            <a:ext cx="292608" cy="292608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22" name="Google Shape;2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7104" y="5678424"/>
            <a:ext cx="175565" cy="17556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6903720" y="5623560"/>
            <a:ext cx="4343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Soporte prioritario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FLUJO PRINCIPAL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Del registro a la postulación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2000250" y="2743200"/>
            <a:ext cx="8161020" cy="0"/>
          </a:xfrm>
          <a:prstGeom prst="straightConnector1">
            <a:avLst/>
          </a:prstGeom>
          <a:noFill/>
          <a:ln cap="flat" cmpd="sng" w="381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/>
          <p:nvPr/>
        </p:nvSpPr>
        <p:spPr>
          <a:xfrm>
            <a:off x="163449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briefcase_white.png" id="233" name="Google Shape;2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737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74980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8"/>
          <p:cNvSpPr txBox="1"/>
          <p:nvPr/>
        </p:nvSpPr>
        <p:spPr>
          <a:xfrm>
            <a:off x="86868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se registra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86868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Publica su licitación sin costo.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35483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search_white.png" id="238" name="Google Shape;2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771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/>
          <p:nvPr/>
        </p:nvSpPr>
        <p:spPr>
          <a:xfrm>
            <a:off x="347014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358902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Pyme busca y postula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358902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Elige su plan(Opcional), filtra licitaciones y postula. Si el Licitador le adjudica la licitación, se abre un chat privado para resolver consultas.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075170" y="2377440"/>
            <a:ext cx="731520" cy="73152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243" name="Google Shape;24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5805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619048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630936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Licitador decide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 txBox="1"/>
          <p:nvPr/>
        </p:nvSpPr>
        <p:spPr>
          <a:xfrm>
            <a:off x="630936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Revisa las postulaciones, las aprueba o rechaza y adjudica la licitación a una Pyme.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9795510" y="2377440"/>
            <a:ext cx="731520" cy="731520"/>
          </a:xfrm>
          <a:prstGeom prst="ellipse">
            <a:avLst/>
          </a:prstGeom>
          <a:solidFill>
            <a:srgbClr val="3A5A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ail_white.png" id="248" name="Google Shape;24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78390" y="2560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/>
          <p:nvPr/>
        </p:nvSpPr>
        <p:spPr>
          <a:xfrm>
            <a:off x="8910828" y="3337560"/>
            <a:ext cx="2500884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9029700" y="3493008"/>
            <a:ext cx="22631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Notificación automática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 txBox="1"/>
          <p:nvPr/>
        </p:nvSpPr>
        <p:spPr>
          <a:xfrm>
            <a:off x="9029700" y="4023360"/>
            <a:ext cx="22631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Ambas partes reciben aviso por correo.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9"/>
          <p:cNvSpPr/>
          <p:nvPr/>
        </p:nvSpPr>
        <p:spPr>
          <a:xfrm>
            <a:off x="9875520" y="-1463040"/>
            <a:ext cx="4389120" cy="438912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INNOVACIÓN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48640" y="676656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LicitAsist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48640" y="135331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50"/>
              <a:buFont typeface="Calibri"/>
              <a:buNone/>
            </a:pPr>
            <a:r>
              <a:rPr b="0" i="1" lang="en-US" sz="14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Asistente conversacional con inteligencia artificial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548640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lert_white.png" id="264" name="Google Shape;2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941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9"/>
          <p:cNvSpPr txBox="1"/>
          <p:nvPr/>
        </p:nvSpPr>
        <p:spPr>
          <a:xfrm>
            <a:off x="1371600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777240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Las Pymes pierden tiempo revisando las Ofertas de licitaciones 1 por 1 manualmente.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334256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4562856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message_white.png" id="269" name="Google Shape;26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557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 txBox="1"/>
          <p:nvPr/>
        </p:nvSpPr>
        <p:spPr>
          <a:xfrm>
            <a:off x="5157216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 txBox="1"/>
          <p:nvPr/>
        </p:nvSpPr>
        <p:spPr>
          <a:xfrm>
            <a:off x="4562856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Chatbot integrado que usa datos reales de la plataforma vía Groq API,para recomendar Licitaciones lo que aminoraria el tiempo de espera en encontrar alguna Licitación.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8119872" y="2011680"/>
            <a:ext cx="3584448" cy="2103120"/>
          </a:xfrm>
          <a:prstGeom prst="roundRect">
            <a:avLst>
              <a:gd fmla="val 4348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8348472" y="2240280"/>
            <a:ext cx="502920" cy="50292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zap_gold.png" id="274" name="Google Shape;27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9173" y="236098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8942832" y="2267712"/>
            <a:ext cx="2578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Beneficio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8348472" y="2880360"/>
            <a:ext cx="312724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Respuestas instantáneas, decisiones más rápidas y menor carga operativa.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fmla="val 6452" name="adj"/>
            </a:avLst>
          </a:prstGeom>
          <a:solidFill>
            <a:srgbClr val="1B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868680" y="4526280"/>
            <a:ext cx="10424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“¿Qué licitaciones de tecnología están abiertas y cierran esta semana?”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Hay 3 abiertas que cierran esta semana: “Soporte técnico TI” (2 días), “Desarrollo de sitio web” (4 días) y “Auditoría de ciberseguridad” (5 días). ¿Te ayudo a postular a alguna?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h5cc5bd351a91ecd1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h5cc5bd351a91ecd1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h3be17654306d2f8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2039600" cy="663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408940" y="-2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USUARIOS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 txBox="1"/>
          <p:nvPr/>
        </p:nvSpPr>
        <p:spPr>
          <a:xfrm>
            <a:off x="408940" y="207681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El núcleo de identidad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08940" y="79647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Un usuario base, especializado por rol — normalizado, sin duplicar datos.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288" y="1162175"/>
            <a:ext cx="10851820" cy="517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"/>
          <p:cNvSpPr txBox="1"/>
          <p:nvPr/>
        </p:nvSpPr>
        <p:spPr>
          <a:xfrm>
            <a:off x="293840" y="65573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 txBox="1"/>
          <p:nvPr/>
        </p:nvSpPr>
        <p:spPr>
          <a:xfrm>
            <a:off x="293840" y="358181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Una licitación, muchas postulaciones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 txBox="1"/>
          <p:nvPr/>
        </p:nvSpPr>
        <p:spPr>
          <a:xfrm>
            <a:off x="293840" y="1053125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Relación 1 : N — cada licitación puede recibir varias postulaciones.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250" y="1186800"/>
            <a:ext cx="11454332" cy="530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4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MS-VENTAS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De la suscripción al pago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flujo va en cadena: un plan da origen a una suscripción, una venta y un pago.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850075"/>
            <a:ext cx="11887199" cy="43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NOTIFICACIONES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Un registro por cada evento importante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El microservicio más simple: una sola tabla, sin relaciones propias.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10640" y="5120660"/>
            <a:ext cx="11064300" cy="777300"/>
          </a:xfrm>
          <a:prstGeom prst="roundRect">
            <a:avLst>
              <a:gd fmla="val 9412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525" y="2001998"/>
            <a:ext cx="931545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h5cc5bd351a91ecd1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875" y="2070128"/>
            <a:ext cx="8010525" cy="29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h5cc5bd351a91ecd1_0_45"/>
          <p:cNvSpPr txBox="1"/>
          <p:nvPr/>
        </p:nvSpPr>
        <p:spPr>
          <a:xfrm>
            <a:off x="548640" y="384048"/>
            <a:ext cx="8229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MODELO DE DATOS · API CHAT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h5cc5bd351a91ecd1_0_45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Comunicación entre licitadores y pymes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6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ALCANCE DEL PROYECTO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6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Qué entra y qué no entra en el MVP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/>
          <p:nvPr/>
        </p:nvSpPr>
        <p:spPr>
          <a:xfrm>
            <a:off x="548640" y="1783080"/>
            <a:ext cx="5486400" cy="4343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1E7A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E1F2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358" name="Google Shape;3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6"/>
          <p:cNvSpPr txBox="1"/>
          <p:nvPr/>
        </p:nvSpPr>
        <p:spPr>
          <a:xfrm>
            <a:off x="1417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7A3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7A3D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868680" y="26974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Registro y autenticación (3 perfiles)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 txBox="1"/>
          <p:nvPr/>
        </p:nvSpPr>
        <p:spPr>
          <a:xfrm>
            <a:off x="868680" y="34290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Publicación y administración de licitaciones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Búsqueda y postulación de Pymes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868680" y="452628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Planes para Pymes: Estándar (gratis) y Premium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868680" y="48920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pasarela de pago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868680" y="525780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Panel de administración general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868680" y="562356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LicitAsist: asistente con 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6263640" y="1783080"/>
            <a:ext cx="5349240" cy="43434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15225">
            <a:solidFill>
              <a:srgbClr val="A32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6537960" y="2057400"/>
            <a:ext cx="457200" cy="457200"/>
          </a:xfrm>
          <a:prstGeom prst="ellipse">
            <a:avLst/>
          </a:prstGeom>
          <a:solidFill>
            <a:srgbClr val="FBE7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x_red.png" id="369" name="Google Shape;36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0830" y="2160270"/>
            <a:ext cx="251460" cy="2514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6"/>
          <p:cNvSpPr txBox="1"/>
          <p:nvPr/>
        </p:nvSpPr>
        <p:spPr>
          <a:xfrm>
            <a:off x="7132320" y="2057400"/>
            <a:ext cx="4297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2D2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32D2D"/>
                </a:solidFill>
                <a:latin typeface="Calibri"/>
                <a:ea typeface="Calibri"/>
                <a:cs typeface="Calibri"/>
                <a:sym typeface="Calibri"/>
              </a:rPr>
              <a:t>Fuera del alcance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6583680" y="269748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Obtención automática de licitaciones públicas externas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6583680" y="310896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Aplicación móvil nativa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 txBox="1"/>
          <p:nvPr/>
        </p:nvSpPr>
        <p:spPr>
          <a:xfrm>
            <a:off x="6583680" y="352044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Motor propio de recomendación con machine learning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 txBox="1"/>
          <p:nvPr/>
        </p:nvSpPr>
        <p:spPr>
          <a:xfrm>
            <a:off x="6583680" y="3931920"/>
            <a:ext cx="4754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Integración con ERP externos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868680" y="306324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Edición de datos del perfil (Licitador y Pyme)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 txBox="1"/>
          <p:nvPr/>
        </p:nvSpPr>
        <p:spPr>
          <a:xfrm>
            <a:off x="868680" y="4160520"/>
            <a:ext cx="4846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•  Chat privado entre Licitador y Pyme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548640" y="676656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333"/>
                </a:solidFill>
                <a:latin typeface="Cambria"/>
                <a:ea typeface="Cambria"/>
                <a:cs typeface="Cambria"/>
                <a:sym typeface="Cambria"/>
              </a:rPr>
              <a:t>Scrum — 6 sprints de 2 semanas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699515" y="136245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12 semanas de desarrollo (01/09 – 20/11),con un entregable funcional al cierre de cada sprint.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54864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567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115671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65836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Usuarios y registro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242316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303123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7"/>
          <p:cNvSpPr txBox="1"/>
          <p:nvPr/>
        </p:nvSpPr>
        <p:spPr>
          <a:xfrm>
            <a:off x="303123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2532888" y="288036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429768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490575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7"/>
          <p:cNvSpPr txBox="1"/>
          <p:nvPr/>
        </p:nvSpPr>
        <p:spPr>
          <a:xfrm>
            <a:off x="490575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4407408" y="2948940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Postulaciones y selecciones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17220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678027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6780276" y="22860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6281928" y="2935224"/>
            <a:ext cx="147218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Módulo Administrador y Estado de postulaciones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804672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865479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7"/>
          <p:cNvSpPr txBox="1"/>
          <p:nvPr/>
        </p:nvSpPr>
        <p:spPr>
          <a:xfrm>
            <a:off x="865479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7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fmla="val 4706" name="adj"/>
            </a:avLst>
          </a:prstGeom>
          <a:solidFill>
            <a:srgbClr val="F2E3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 txBox="1"/>
          <p:nvPr/>
        </p:nvSpPr>
        <p:spPr>
          <a:xfrm>
            <a:off x="822960" y="4315968"/>
            <a:ext cx="10607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Facilitadores:  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stack tecnológico definido desde el inicio, 100% herramientas gratuitas para el desarrollo.</a:t>
            </a:r>
            <a:b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Obstaculizadores:  </a:t>
            </a:r>
            <a:r>
              <a:rPr b="0" i="0" lang="en-US" sz="12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Dependencia de servicios externos con nivel gratuito limitado (IA y pasarela de pago) y coordinación entre 6 APIs internas y 2 APIs externas.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6B7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C6B7A"/>
                </a:solidFill>
                <a:latin typeface="Calibri"/>
                <a:ea typeface="Calibri"/>
                <a:cs typeface="Calibri"/>
                <a:sym typeface="Calibri"/>
              </a:rPr>
              <a:t>LicitaWatch — Plataforma privada de gestión de licitaciones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9921240" y="2103120"/>
            <a:ext cx="1691640" cy="1737360"/>
          </a:xfrm>
          <a:prstGeom prst="roundRect">
            <a:avLst>
              <a:gd fmla="val 5755" name="adj"/>
            </a:avLst>
          </a:prstGeom>
          <a:solidFill>
            <a:srgbClr val="FFFFFF"/>
          </a:solidFill>
          <a:ln cap="flat" cmpd="sng" w="12700">
            <a:solidFill>
              <a:srgbClr val="D8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0529316" y="2286000"/>
            <a:ext cx="475488" cy="475488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10529316" y="2286000"/>
            <a:ext cx="475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 txBox="1"/>
          <p:nvPr/>
        </p:nvSpPr>
        <p:spPr>
          <a:xfrm>
            <a:off x="8156448" y="2880312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Suscripción y pasarela de pago externa</a:t>
            </a:r>
            <a:endParaRPr b="1" i="0" sz="1050" u="none" cap="none" strike="noStrike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1A2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10030968" y="2880299"/>
            <a:ext cx="1472184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33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333"/>
                </a:solidFill>
                <a:latin typeface="Calibri"/>
                <a:ea typeface="Calibri"/>
                <a:cs typeface="Calibri"/>
                <a:sym typeface="Calibri"/>
              </a:rPr>
              <a:t>LicitAsist (IA), notificaciones, chat y perfil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94B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8"/>
          <p:cNvSpPr/>
          <p:nvPr/>
        </p:nvSpPr>
        <p:spPr>
          <a:xfrm>
            <a:off x="-1371600" y="-1463040"/>
            <a:ext cx="4206240" cy="420624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10241280" y="3931920"/>
            <a:ext cx="3657600" cy="3657600"/>
          </a:xfrm>
          <a:prstGeom prst="ellipse">
            <a:avLst/>
          </a:prstGeom>
          <a:solidFill>
            <a:srgbClr val="0B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award_gold.png" id="421" name="Google Shape;42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7270" y="142875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8"/>
          <p:cNvSpPr txBox="1"/>
          <p:nvPr/>
        </p:nvSpPr>
        <p:spPr>
          <a:xfrm>
            <a:off x="82296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24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24C"/>
                </a:solidFill>
                <a:latin typeface="Calibri"/>
                <a:ea typeface="Calibri"/>
                <a:cs typeface="Calibri"/>
                <a:sym typeface="Calibri"/>
              </a:rPr>
              <a:t>RESULTADO ESPERADO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 txBox="1"/>
          <p:nvPr/>
        </p:nvSpPr>
        <p:spPr>
          <a:xfrm>
            <a:off x="822960" y="2542032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 sistema privado, propio y sostenible.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 txBox="1"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7D2E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2E2"/>
                </a:solidFill>
                <a:latin typeface="Calibri"/>
                <a:ea typeface="Calibri"/>
                <a:cs typeface="Calibri"/>
                <a:sym typeface="Calibri"/>
              </a:rPr>
              <a:t>LicitaWatch deja de depender de portales externos: los Licitadores publican, las Pymes postulan, y los planes de suscripción financian la operación.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822960" y="416052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426" name="Google Shape;4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22269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8"/>
          <p:cNvSpPr txBox="1"/>
          <p:nvPr/>
        </p:nvSpPr>
        <p:spPr>
          <a:xfrm>
            <a:off x="1280160" y="416052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 microservicios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822960" y="466344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429" name="Google Shape;4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472561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8"/>
          <p:cNvSpPr txBox="1"/>
          <p:nvPr/>
        </p:nvSpPr>
        <p:spPr>
          <a:xfrm>
            <a:off x="1280160" y="466344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 de negocio propio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822960" y="5166360"/>
            <a:ext cx="310896" cy="310896"/>
          </a:xfrm>
          <a:prstGeom prst="ellipse">
            <a:avLst/>
          </a:prstGeom>
          <a:solidFill>
            <a:srgbClr val="2436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licitawatch-deck/icons/check_green.png" id="432" name="Google Shape;43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5139" y="5228539"/>
            <a:ext cx="186538" cy="186538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8"/>
          <p:cNvSpPr txBox="1"/>
          <p:nvPr/>
        </p:nvSpPr>
        <p:spPr>
          <a:xfrm>
            <a:off x="1280160" y="5166360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LicitAsist · IA integrada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 txBox="1"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3BD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FA3BD"/>
                </a:solidFill>
                <a:latin typeface="Calibri"/>
                <a:ea typeface="Calibri"/>
                <a:cs typeface="Calibri"/>
                <a:sym typeface="Calibri"/>
              </a:rPr>
              <a:t>Gracias — preguntas y comentarios son bienvenidos.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2026-09-23T15:29:00Z</dcterms:created>
  <dc:creator>PptxGenJS</dc:creator>
</cp:coreProperties>
</file>