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7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03FdnuB41DbtTSW+TquzYnAH5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Portada — nombre del proyecto y los 3 perfiles que lo componen.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Dos caras del mismo problema: quien contrata y quien quiere postular, sin canal común.</a:t>
            </a:r>
            <a:endParaRPr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LicitaWatch como plataforma privada y autosostenible, sin depender de portales externos.</a:t>
            </a:r>
            <a:endParaRPr/>
          </a:p>
        </p:txBody>
      </p:sp>
      <p:sp>
        <p:nvSpPr>
          <p:cNvPr id="53" name="Google Shape;5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Leer el objetivo general una sola vez, sin detenerse en cada cláusula.</a:t>
            </a:r>
            <a:endParaRPr/>
          </a:p>
        </p:txBody>
      </p:sp>
      <p:sp>
        <p:nvSpPr>
          <p:cNvPr id="77" name="Google Shape;7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Recorrer la grilla rápido, agrupando de a dos: identidad y publicación; búsqueda y ventas; pagos y administración.</a:t>
            </a:r>
            <a:endParaRPr/>
          </a:p>
        </p:txBody>
      </p:sp>
      <p:sp>
        <p:nvSpPr>
          <p:cNvPr id="89" name="Google Shape;8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Los 3 perfiles se autentican vía JWT y RBAC; cada uno ve solo lo habilitado para su rol.</a:t>
            </a:r>
            <a:endParaRPr/>
          </a:p>
        </p:txBody>
      </p:sp>
      <p:sp>
        <p:nvSpPr>
          <p:cNvPr id="137" name="Google Shape;1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Los planes limitan volumen y soporte, no las funciones esenciales: registro, búsqueda y postulación básica siempre están disponibles.</a:t>
            </a:r>
            <a:endParaRPr/>
          </a:p>
        </p:txBody>
      </p:sp>
      <p:sp>
        <p:nvSpPr>
          <p:cNvPr id="182" name="Google Shape;18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Administrador supervisa ambos flujos — licitaciones y ventas/pagos — desde el panel de administración.</a:t>
            </a:r>
            <a:endParaRPr/>
          </a:p>
        </p:txBody>
      </p:sp>
      <p:sp>
        <p:nvSpPr>
          <p:cNvPr id="227" name="Google Shape;22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LicitAsist usa el Free Tier de Groq: sujeto a límites de uso, no es un servicio gratuito ilimitado.</a:t>
            </a:r>
            <a:endParaRPr/>
          </a:p>
        </p:txBody>
      </p:sp>
      <p:sp>
        <p:nvSpPr>
          <p:cNvPr id="256" name="Google Shape;25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5cc5bd351a91ecd1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h5cc5bd351a91ecd1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h5cc5bd351a91ecd1_1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5cc5bd351a91ecd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h5cc5bd351a91ecd1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" name="Google Shape;290;h5cc5bd351a91ecd1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usuario es la tabla central; licitador/pyme/administrador son extensiones 1:1 según el rol.</a:t>
            </a:r>
            <a:endParaRPr/>
          </a:p>
        </p:txBody>
      </p:sp>
      <p:sp>
        <p:nvSpPr>
          <p:cNvPr id="302" name="Google Shape;30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Este es el corazón del ciclo de licitación: publicar (licitacion) y postular (postulacion).</a:t>
            </a:r>
            <a:endParaRPr/>
          </a:p>
        </p:txBody>
      </p:sp>
      <p:sp>
        <p:nvSpPr>
          <p:cNvPr id="312" name="Google Shape;31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Cadena lineal: plan → suscripción → venta → pago, cada tabla referenciando a la anterior.</a:t>
            </a:r>
            <a:endParaRPr/>
          </a:p>
        </p:txBody>
      </p:sp>
      <p:sp>
        <p:nvSpPr>
          <p:cNvPr id="322" name="Google Shape;32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API Asistente no tiene diapositiva propia de modelo de datos: no guarda información, solo orquesta a las otras cuatro APIs.</a:t>
            </a:r>
            <a:endParaRPr/>
          </a:p>
        </p:txBody>
      </p:sp>
      <p:sp>
        <p:nvSpPr>
          <p:cNvPr id="332" name="Google Shape;33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5cc5bd351a91ecd1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h5cc5bd351a91ecd1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3" name="Google Shape;343;h5cc5bd351a91ecd1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MVP cubre el ciclo completo de licitación y venta; queda fuera todo lo que no es indispensable para demostrarlo.</a:t>
            </a:r>
            <a:endParaRPr/>
          </a:p>
        </p:txBody>
      </p:sp>
      <p:sp>
        <p:nvSpPr>
          <p:cNvPr id="352" name="Google Shape;35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≈40 seg. Recorrer la línea de sprints señalando solo el hito clave (S7: integración de pagos) sin leer los ocho nombres en detalle.</a:t>
            </a:r>
            <a:endParaRPr/>
          </a:p>
        </p:txBody>
      </p:sp>
      <p:sp>
        <p:nvSpPr>
          <p:cNvPr id="381" name="Google Shape;38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5" name="Google Shape;41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Cierre y espacio para preguntas.</a:t>
            </a:r>
            <a:endParaRPr/>
          </a:p>
        </p:txBody>
      </p:sp>
      <p:sp>
        <p:nvSpPr>
          <p:cNvPr id="416" name="Google Shape;41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868680" cy="86868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p1" descr="/home/claude/licitawatch-deck/icons/briefcase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130" y="16344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/>
        </p:nvSpPr>
        <p:spPr>
          <a:xfrm>
            <a:off x="822960" y="24688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PROYECTO DE TÍTULO · INGENIERÍA · 2026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77240" y="2788920"/>
            <a:ext cx="9601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Plataforma privada de gestión de licitaciones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4572000"/>
            <a:ext cx="1764792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 cap="flat" cmpd="sng">
            <a:solidFill>
              <a:srgbClr val="D4A2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22960" y="4572000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788920" y="45720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 cap="flat" cmpd="sng">
            <a:solidFill>
              <a:srgbClr val="D4A2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2788920" y="45720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041648" y="457200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1B2E52"/>
          </a:solidFill>
          <a:ln w="12700" cap="flat" cmpd="sng">
            <a:solidFill>
              <a:srgbClr val="D4A2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4041648" y="4572000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CLIENTE Y PROBLEMA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mercado privado, sin canal propio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2" descr="/home/claude/licitawatch-deck/icons/aler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1280160" y="160020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licitaciones privadas se gestionan hoy con planillas, correos y contactos — sin una plataforma propia que las centralice.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25146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6868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2" descr="/home/claude/licitawatch-deck/icons/briefcase_gol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35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55448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6868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Empresas que necesitan contratar obras, servicios o insumos no tienen un canal controlado para publicar sus procesos ni recibir postulantes calificados.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72200" y="2514600"/>
            <a:ext cx="53492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9224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2" descr="/home/claude/licitawatch-deck/icons/users_gol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2391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717804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49224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Pymes que ofrecen esos servicios no tienen un lugar centralizado donde buscar, comparar y postular — pierden oportunidades por falta de visibilidad.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50"/>
              <a:buFont typeface="Calibri"/>
              <a:buNone/>
            </a:pPr>
            <a:r>
              <a:rPr lang="en-US" sz="145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Una plataforma privada donde nuestra empresa controla la tecnología y el negocio.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21488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975104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3" descr="/home/claude/licitawatch-deck/icons/briefcase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57984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 txBox="1"/>
          <p:nvPr/>
        </p:nvSpPr>
        <p:spPr>
          <a:xfrm>
            <a:off x="777240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 publican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822960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Publican y administran sus licitaciones de principio a fin.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334256" y="21488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760720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3" descr="/home/claude/licitawatch-deck/icons/search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4562856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 postulan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4608576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Buscan, filtran y postulan a las licitaciones abiertas.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119872" y="2148840"/>
            <a:ext cx="3584448" cy="3291840"/>
          </a:xfrm>
          <a:prstGeom prst="roundRect">
            <a:avLst>
              <a:gd name="adj" fmla="val 2778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546336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3" descr="/home/claude/licitawatch-deck/icons/tag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29216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8348472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Planes propios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8394192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La operación se financia con suscripciones, no con terceros.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buscamos lograr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77240" y="2148840"/>
            <a:ext cx="1463040" cy="14630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" name="Google Shape;82;p4" descr="/home/claude/licitawatch-deck/icons/target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25146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2606040" y="2011680"/>
            <a:ext cx="9006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2926080" y="2011680"/>
            <a:ext cx="84124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privada, basada en microservicios, que permita a los Licitadores publicar y administrar licitaciones sin costo, a las Pymes buscar y postular, y a ambas partes comunicarse mediante un chat privado — y operar el negocio con perfiles de usuario editables, suscripciones pagadas por las Pymes y una pasarela de pagos integrada, complementado con un asistente de inteligencia artificial que facilite la publicación y la postulación.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Ocho frentes de trabajo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5" descr="/home/claude/licitawatch-deck/icons/userplus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611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77724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Autenticación y perfiles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7724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JWT y control de acceso por rol (RBAC).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21792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5" descr="/home/claude/licitawatch-deck/icons/filetext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539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 txBox="1"/>
          <p:nvPr/>
        </p:nvSpPr>
        <p:spPr>
          <a:xfrm>
            <a:off x="644652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Publicación de licitaciones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44652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CRUD completo para los Licitadores.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905256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28116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5" descr="/home/claude/licitawatch-deck/icons/search_whit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0003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928116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Búsqueda y postulación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928116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Pymes filtran y postulan.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38328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61188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5" descr="/home/claude/licitawatch-deck/icons/tag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3075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361188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Gestión de ventas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61188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Planes de suscripción para las Pymes y sus transacciones.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21792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44652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5" descr="/home/claude/licitawatch-deck/icons/creditcard_whit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539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644652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Pasarela de pago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644652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Cobro del plan Premium a las Pymes.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05256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928116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 descr="/home/claude/licitawatch-deck/icons/settings_whit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0003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928116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Panel de administración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928116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Usuarios, licitadores, pymes y licitaciones.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383280" y="182880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61188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61188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Edición de perfil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361188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Licitadores y Pymes actualizan sus datos.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5" descr="icon_pencil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3075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548640" y="3858768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7724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77724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Chat entre las partes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7724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Conversación privada Licitador–Pyme.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5" descr="icon_chat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611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PERFILES DEL SISTEMA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Tres perfiles, un solo sistema de identidad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8640" y="178308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04672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6" descr="/home/claude/licitawatch-deck/icons/briefcase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318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804672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804672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 y administra licitaciones. Define condiciones y plazos, y revisa postulaciones.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6"/>
          <p:cNvCxnSpPr/>
          <p:nvPr/>
        </p:nvCxnSpPr>
        <p:spPr>
          <a:xfrm>
            <a:off x="804672" y="4206240"/>
            <a:ext cx="3072384" cy="0"/>
          </a:xfrm>
          <a:prstGeom prst="straightConnector1">
            <a:avLst/>
          </a:prstGeom>
          <a:noFill/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" name="Google Shape;147;p6"/>
          <p:cNvSpPr/>
          <p:nvPr/>
        </p:nvSpPr>
        <p:spPr>
          <a:xfrm>
            <a:off x="804672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987552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Publicar licitación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04672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987552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Editar / cerrar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4672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987552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postulantes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334256" y="178308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90288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6" descr="/home/claude/licitawatch-deck/icons/users_gol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2934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4590288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4590288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Busca, revisa y postula a licitaciones publicadas. Administra su suscripción.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6"/>
          <p:cNvCxnSpPr/>
          <p:nvPr/>
        </p:nvCxnSpPr>
        <p:spPr>
          <a:xfrm>
            <a:off x="4590288" y="4206240"/>
            <a:ext cx="3072384" cy="0"/>
          </a:xfrm>
          <a:prstGeom prst="straightConnector1">
            <a:avLst/>
          </a:prstGeom>
          <a:noFill/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6"/>
          <p:cNvSpPr/>
          <p:nvPr/>
        </p:nvSpPr>
        <p:spPr>
          <a:xfrm>
            <a:off x="4590288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4773168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Buscar y filtrar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90288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4773168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90288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4773168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estado de postulación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119872" y="1783080"/>
            <a:ext cx="3584448" cy="393192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375904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6" descr="/home/claude/licitawatch-deck/icons/shield_gol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18550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8375904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lang="en-US" sz="16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8375904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Pertenece a LicitaWatch. Administra usuarios, licitaciones y el funcionamiento general.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>
            <a:off x="8375904" y="4206240"/>
            <a:ext cx="3072384" cy="0"/>
          </a:xfrm>
          <a:prstGeom prst="straightConnector1">
            <a:avLst/>
          </a:prstGeom>
          <a:noFill/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6"/>
          <p:cNvSpPr/>
          <p:nvPr/>
        </p:nvSpPr>
        <p:spPr>
          <a:xfrm>
            <a:off x="8375904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8558784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Gestionar usuarios y roles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375904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8558784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Moderar licitaciones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375904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558784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ventas y suscripciones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NEGOCIO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Ingresos por suscripción de las Pymes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Dos planes para las Pymes. El Licitador no paga: publica sus licitaciones sin costo.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5225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86868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7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ESTÁNDAR  ·  GRATIS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86868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Acceso funcional para buscar y comenzar a postular.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68680" y="33375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3392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128016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Búsqueda y filtros de licitaciones sin límite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68680" y="37947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38496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128016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Hasta 3 postulaciones al 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68680" y="42519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43068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128016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Chat privado con el Licitador al adjudicar una licitación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172200" y="1965960"/>
            <a:ext cx="5349240" cy="4160520"/>
          </a:xfrm>
          <a:prstGeom prst="roundRect">
            <a:avLst>
              <a:gd name="adj" fmla="val 2439"/>
            </a:avLst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649224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PREMIUM  ·  DE PAGO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649224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Todo lo de Estándar, con mayor capacidad de postulación y beneficios exclusivos.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92240" y="33375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3392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690372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Hasta 7 postulaciones al mes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492240" y="37947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38496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690372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a LicitAsist, el asistente con 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492240" y="42519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43068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690372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 de visibilidad en resultados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68680" y="47091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7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544" y="47640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 txBox="1"/>
          <p:nvPr/>
        </p:nvSpPr>
        <p:spPr>
          <a:xfrm>
            <a:off x="1280160" y="47091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Soporte estándar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492240" y="47091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47640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6903720" y="47091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Alertas por correo de licitaciones de su rubro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492240" y="51663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52212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 txBox="1"/>
          <p:nvPr/>
        </p:nvSpPr>
        <p:spPr>
          <a:xfrm>
            <a:off x="6903720" y="51663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Insignia Premium visible en su perfil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492240" y="56235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7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7104" y="5678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6903720" y="5623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Soporte prioritario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FLUJO PRINCIPAL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Del registro a la postulación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8"/>
          <p:cNvCxnSpPr/>
          <p:nvPr/>
        </p:nvCxnSpPr>
        <p:spPr>
          <a:xfrm>
            <a:off x="2000250" y="2743200"/>
            <a:ext cx="8161020" cy="0"/>
          </a:xfrm>
          <a:prstGeom prst="straightConnector1">
            <a:avLst/>
          </a:prstGeom>
          <a:noFill/>
          <a:ln w="381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2" name="Google Shape;232;p8"/>
          <p:cNvSpPr/>
          <p:nvPr/>
        </p:nvSpPr>
        <p:spPr>
          <a:xfrm>
            <a:off x="163449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8" descr="/home/claude/licitawatch-deck/icons/briefcase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737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74980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86868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se registra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86868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 su licitación sin costo.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35483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8" descr="/home/claude/licitawatch-deck/icons/search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3771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347014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358902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 busca y postula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358902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Elige su plan(Opcional), filtra licitaciones y postula. Si el Licitador le adjudica la licitación, se abre un chat privado para resolver consultas.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07517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8" descr="/home/claude/licitawatch-deck/icons/check_gree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805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619048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630936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decide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630936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Revisa las postulaciones, las aprueba o rechaza y adjudica la licitación a una Pyme.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9795510" y="2377440"/>
            <a:ext cx="731520" cy="731520"/>
          </a:xfrm>
          <a:prstGeom prst="ellipse">
            <a:avLst/>
          </a:prstGeom>
          <a:solidFill>
            <a:srgbClr val="3A5A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8" descr="/home/claude/licitawatch-deck/icons/mail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7839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8910828" y="3337560"/>
            <a:ext cx="2500884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902970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Notificación automática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902970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Ambas partes reciben aviso por correo.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9875520" y="-1463040"/>
            <a:ext cx="4389120" cy="43891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INNOVACIÓN DEL PROYECTO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548640" y="676656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LicitAsist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548640" y="13533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50"/>
              <a:buFont typeface="Calibri"/>
              <a:buNone/>
            </a:pPr>
            <a:r>
              <a:rPr lang="en-US" sz="1450" b="0" i="1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Asistente conversacional con inteligencia artificial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48640" y="2011680"/>
            <a:ext cx="3584448" cy="2103120"/>
          </a:xfrm>
          <a:prstGeom prst="roundRect">
            <a:avLst>
              <a:gd name="adj" fmla="val 4348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9" descr="/home/claude/licitawatch-deck/icons/alert_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7941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9"/>
          <p:cNvSpPr txBox="1"/>
          <p:nvPr/>
        </p:nvSpPr>
        <p:spPr>
          <a:xfrm>
            <a:off x="1371600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777240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Las Pymes pierden tiempo revisando las Ofertas de licitaciones 1 por 1 manualmente.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334256" y="2011680"/>
            <a:ext cx="3584448" cy="2103120"/>
          </a:xfrm>
          <a:prstGeom prst="roundRect">
            <a:avLst>
              <a:gd name="adj" fmla="val 4348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562856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9" descr="/home/claude/licitawatch-deck/icons/message_whit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3557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 txBox="1"/>
          <p:nvPr/>
        </p:nvSpPr>
        <p:spPr>
          <a:xfrm>
            <a:off x="5157216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4562856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Chatbot integrado que usa datos reales de la plataforma vía Groq API,para recomendar Licitaciones lo que aminoraria el tiempo de espera en encontrar alguna Licitación.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119872" y="2011680"/>
            <a:ext cx="3584448" cy="2103120"/>
          </a:xfrm>
          <a:prstGeom prst="roundRect">
            <a:avLst>
              <a:gd name="adj" fmla="val 4348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348472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4" name="Google Shape;274;p9" descr="/home/claude/licitawatch-deck/icons/zap_gol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69173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9"/>
          <p:cNvSpPr txBox="1"/>
          <p:nvPr/>
        </p:nvSpPr>
        <p:spPr>
          <a:xfrm>
            <a:off x="8942832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Beneficio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8348472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Respuestas instantáneas, decisiones más rápidas y menor carga operativa.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B2E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868680" y="452628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lang="en-US" sz="1250" b="0" i="1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“¿Qué licitaciones de tecnología están abiertas y cierran esta semana?”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Hay 3 abiertas que cierran esta semana: “Soporte técnico TI” (2 días), “Desarrollo de sitio web” (4 días) y “Auditoría de ciberseguridad” (5 días). ¿Te ayudo a postular a alguna?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h5cc5bd351a91ecd1_1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h5cc5bd351a91ecd1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3C27251-7012-1353-B7B3-8058B4F8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0" y="264160"/>
            <a:ext cx="11900138" cy="626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32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AB8B585-0224-4E87-0DC4-E2B3D24A0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1" y="100341"/>
            <a:ext cx="10960512" cy="612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8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 txBox="1"/>
          <p:nvPr/>
        </p:nvSpPr>
        <p:spPr>
          <a:xfrm>
            <a:off x="408940" y="-2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USUARIOS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408940" y="184881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El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núcleo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de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identidad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BD USUARIOS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408940" y="79647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 usuario base, especializado por rol — normalizado, sin duplicar datos.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4E7B27-32A7-124E-B274-5A51CC6F3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306786"/>
            <a:ext cx="7467600" cy="50408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 txBox="1"/>
          <p:nvPr/>
        </p:nvSpPr>
        <p:spPr>
          <a:xfrm>
            <a:off x="293840" y="65573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LICITACIONES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293840" y="390118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Una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licitación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muchas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postulaciones</a:t>
            </a:r>
            <a:b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BD LICITACIONES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293840" y="1107963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Relación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1 : N —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cada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licitación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puede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recibir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varias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1" u="none" strike="noStrike" cap="none" dirty="0" err="1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postulaciones</a:t>
            </a:r>
            <a:r>
              <a:rPr lang="en-US" sz="1400" b="0" i="1" u="none" strike="noStrike" cap="none" dirty="0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005D3E8-5814-BF9C-3975-AF0B38BFD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78" y="1664825"/>
            <a:ext cx="8640103" cy="4140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MS-VENTAS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 la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suscripción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al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pago</a:t>
            </a:r>
            <a:b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BD VENTAS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flujo va en cadena: un plan da origen a una suscripción, una venta y un pago.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4A097A-F1D4-1E82-4B9E-118C6962F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21" y="1958066"/>
            <a:ext cx="9482814" cy="434367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NOTIFICACIONES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registro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por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cada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evento</a:t>
            </a: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200" b="1" i="0" u="none" strike="noStrike" cap="none" dirty="0" err="1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importante</a:t>
            </a:r>
            <a:b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lang="en-US" sz="3200" b="1" i="0" u="none" strike="noStrike" cap="none" dirty="0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BD NOTIFICACIONES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microservicio más simple: una sola tabla, sin relaciones propias.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858C8E-2E6D-CCDF-3437-141285586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6" y="1737340"/>
            <a:ext cx="9037899" cy="2789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h5cc5bd351a91ecd1_0_45"/>
          <p:cNvSpPr txBox="1"/>
          <p:nvPr/>
        </p:nvSpPr>
        <p:spPr>
          <a:xfrm>
            <a:off x="548640" y="384048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CHAT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h5cc5bd351a91ecd1_0_4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h5cc5bd351a91ecd1_0_4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Comunicación entre licitadores y pymes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7AC73EF-AC4A-F110-5FF9-D8B52781E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83" y="1531530"/>
            <a:ext cx="6989859" cy="25451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entra y qué no entra en el MVP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25" cap="flat" cmpd="sng">
            <a:solidFill>
              <a:srgbClr val="1E7A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16" descr="/home/claude/licitawatch-deck/icons/check_gree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5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6"/>
          <p:cNvSpPr txBox="1"/>
          <p:nvPr/>
        </p:nvSpPr>
        <p:spPr>
          <a:xfrm>
            <a:off x="1417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D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7A3D"/>
                </a:solidFill>
                <a:latin typeface="Calibri"/>
                <a:ea typeface="Calibri"/>
                <a:cs typeface="Calibri"/>
                <a:sym typeface="Calibri"/>
              </a:rPr>
              <a:t>Dentro del alcance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868680" y="26974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Registro y autenticación (3 perfiles)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868680" y="34290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Publicación y administración de licitaciones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868680" y="37947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Búsqueda y postulación de Pymes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868680" y="45262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Planes para Pymes: Estándar (gratis) y Premium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868680" y="48920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pasarela de pago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868680" y="52578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Panel de administración general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868680" y="56235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LicitAsist: asistente con IA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6263640" y="1783080"/>
            <a:ext cx="5349240" cy="4343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225" cap="flat" cmpd="sng">
            <a:solidFill>
              <a:srgbClr val="A32D2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FBE7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16" descr="/home/claude/licitawatch-deck/icons/x_r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0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6"/>
          <p:cNvSpPr txBox="1"/>
          <p:nvPr/>
        </p:nvSpPr>
        <p:spPr>
          <a:xfrm>
            <a:off x="7132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Fuera del alcance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 txBox="1"/>
          <p:nvPr/>
        </p:nvSpPr>
        <p:spPr>
          <a:xfrm>
            <a:off x="6583680" y="269748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Obtención automática de licitaciones públicas externas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 txBox="1"/>
          <p:nvPr/>
        </p:nvSpPr>
        <p:spPr>
          <a:xfrm>
            <a:off x="6583680" y="310896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Aplicación móvil nativa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 txBox="1"/>
          <p:nvPr/>
        </p:nvSpPr>
        <p:spPr>
          <a:xfrm>
            <a:off x="6583680" y="352044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Motor propio de recomendación con machine learning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6583680" y="393192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ERP externos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868680" y="30632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Edición de datos del perfil (Licitador y Pyme)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 txBox="1"/>
          <p:nvPr/>
        </p:nvSpPr>
        <p:spPr>
          <a:xfrm>
            <a:off x="868680" y="416052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Chat privado entre Licitador y Pyme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Scrum — 6 sprints de 2 semanas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699515" y="136245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12 semanas de desarrollo (01/09 – 20/11),con un entregable funcional al cierre de cada sprint.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54864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15671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115671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/>
        </p:nvSpPr>
        <p:spPr>
          <a:xfrm>
            <a:off x="658368" y="288036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Usuarios y registro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242316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303123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7"/>
          <p:cNvSpPr txBox="1"/>
          <p:nvPr/>
        </p:nvSpPr>
        <p:spPr>
          <a:xfrm>
            <a:off x="303123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 txBox="1"/>
          <p:nvPr/>
        </p:nvSpPr>
        <p:spPr>
          <a:xfrm>
            <a:off x="2532888" y="288036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Licitaciones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429768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490575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7"/>
          <p:cNvSpPr txBox="1"/>
          <p:nvPr/>
        </p:nvSpPr>
        <p:spPr>
          <a:xfrm>
            <a:off x="490575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4407408" y="294894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Postulaciones y selecciones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617220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678027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678027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6281928" y="2935224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Módulo Administrador y Estado de postulaciones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804672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865479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8654796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2E3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 txBox="1"/>
          <p:nvPr/>
        </p:nvSpPr>
        <p:spPr>
          <a:xfrm>
            <a:off x="822960" y="4315968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Facilitadores:  </a:t>
            </a: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stack tecnológico definido desde el inicio, 100% herramientas gratuitas para el desarrollo.</a:t>
            </a:r>
            <a:b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Obstaculizadores:  </a:t>
            </a:r>
            <a:r>
              <a:rPr lang="en-US" sz="1250" b="0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Dependencia de servicios externos con nivel gratuito limitado (IA y pasarela de pago) y coordinación entre 6 APIs internas y 2 APIs externas.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9921240" y="2103120"/>
            <a:ext cx="1691640" cy="173736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12700" cap="flat" cmpd="sng">
            <a:solidFill>
              <a:srgbClr val="D8E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1052931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10529316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8156448" y="2880312"/>
            <a:ext cx="1472184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Suscripción y pasarela de pago externa</a:t>
            </a:r>
            <a:endParaRPr sz="1050" b="1" i="0" u="none" strike="noStrike" cap="none">
              <a:solidFill>
                <a:srgbClr val="1A2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endParaRPr sz="1050" b="1">
              <a:solidFill>
                <a:srgbClr val="1A2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10030968" y="2880299"/>
            <a:ext cx="1472184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LicitAsist (IA), notificaciones, chat y perfil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94B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-1371600" y="-1463040"/>
            <a:ext cx="4206240" cy="420624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10241280" y="3931920"/>
            <a:ext cx="3657600" cy="365760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18" descr="/home/claude/licitawatch-deck/icons/award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7270" y="14287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8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RESULTADO ESPERADO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 txBox="1"/>
          <p:nvPr/>
        </p:nvSpPr>
        <p:spPr>
          <a:xfrm>
            <a:off x="822960" y="25420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sistema privado, propio y sostenible.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 txBox="1"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LicitaWatch deja de depender de portales externos: los Licitadores publican, las Pymes postulan, y los planes de suscripción financian la operación.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822960" y="416052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6" name="Google Shape;426;p18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139" y="422269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8"/>
          <p:cNvSpPr txBox="1"/>
          <p:nvPr/>
        </p:nvSpPr>
        <p:spPr>
          <a:xfrm>
            <a:off x="1280160" y="416052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 microservicios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822960" y="466344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18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139" y="472561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/>
        </p:nvSpPr>
        <p:spPr>
          <a:xfrm>
            <a:off x="1280160" y="466344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negocio propio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822960" y="516636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18" descr="/home/claude/licitawatch-deck/icons/check_green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5139" y="522853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8"/>
          <p:cNvSpPr txBox="1"/>
          <p:nvPr/>
        </p:nvSpPr>
        <p:spPr>
          <a:xfrm>
            <a:off x="1280160" y="516636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LicitAsist · IA integrada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Gracias — preguntas y comentarios son bienvenidos.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1591</Words>
  <Application>Microsoft Office PowerPoint</Application>
  <PresentationFormat>Panorámica</PresentationFormat>
  <Paragraphs>202</Paragraphs>
  <Slides>21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Francisca Araya Soto</cp:lastModifiedBy>
  <cp:revision>4</cp:revision>
  <dcterms:created xsi:type="dcterms:W3CDTF">2026-09-23T15:29:00Z</dcterms:created>
  <dcterms:modified xsi:type="dcterms:W3CDTF">2026-10-23T18:03:52Z</dcterms:modified>
</cp:coreProperties>
</file>